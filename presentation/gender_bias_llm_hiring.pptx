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EEF4"/>
              </a:gs>
              <a:gs pos="100000">
                <a:srgbClr val="E9F1FC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21060000">
            <a:off x="868680" y="1143000"/>
            <a:ext cx="1691640" cy="2148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FDFE9"/>
            </a:solidFill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480000">
            <a:off x="9646920" y="3611880"/>
            <a:ext cx="1691640" cy="2148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FDFE9"/>
            </a:solidFill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69767" y="1280160"/>
            <a:ext cx="58521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0" b="0" i="0">
                <a:solidFill>
                  <a:srgbClr val="E888B4"/>
                </a:solidFill>
                <a:latin typeface="Calibri"/>
              </a:rPr>
              <a:t>♀</a:t>
            </a:r>
            <a:r>
              <a:rPr sz="6400" b="0" i="0">
                <a:solidFill>
                  <a:srgbClr val="B0A4BB"/>
                </a:solidFill>
                <a:latin typeface="Calibri"/>
              </a:rPr>
              <a:t>   vs   </a:t>
            </a:r>
            <a:r>
              <a:rPr sz="6400" b="0" i="0">
                <a:solidFill>
                  <a:srgbClr val="6FA0DD"/>
                </a:solidFill>
                <a:latin typeface="Calibri"/>
              </a:rPr>
              <a:t>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2880360"/>
            <a:ext cx="1024128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4000" b="1" i="0">
                <a:solidFill>
                  <a:srgbClr val="463A53"/>
                </a:solidFill>
                <a:latin typeface="Century Gothic"/>
              </a:rPr>
              <a:t>Gender bias when </a:t>
            </a:r>
            <a:r>
              <a:rPr sz="4000" b="1" i="0">
                <a:solidFill>
                  <a:srgbClr val="E07AA8"/>
                </a:solidFill>
                <a:latin typeface="Century Gothic"/>
              </a:rPr>
              <a:t>AI</a:t>
            </a:r>
            <a:r>
              <a:rPr sz="4000" b="1" i="0">
                <a:solidFill>
                  <a:srgbClr val="463A53"/>
                </a:solidFill>
                <a:latin typeface="Century Gothic"/>
              </a:rPr>
              <a:t> screens résumés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8247" y="4754880"/>
            <a:ext cx="7315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 spc="360">
                <a:solidFill>
                  <a:srgbClr val="8A7D95"/>
                </a:solidFill>
                <a:latin typeface="Century Gothic"/>
              </a:rPr>
              <a:t>JAPANESE HIRING   ·   5 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EEF4"/>
              </a:gs>
              <a:gs pos="100000">
                <a:srgbClr val="E9F1FC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E07AA8"/>
                </a:solidFill>
                <a:latin typeface="Century Gothic"/>
              </a:rPr>
              <a:t>THE SETUP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75807" y="969264"/>
            <a:ext cx="640080" cy="0"/>
          </a:xfrm>
          <a:prstGeom prst="bentConnector3">
            <a:avLst/>
          </a:prstGeom>
          <a:ln w="27940">
            <a:solidFill>
              <a:srgbClr val="E07A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331720" y="2571292"/>
            <a:ext cx="1554480" cy="198973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6510">
            <a:solidFill>
              <a:srgbClr val="EFDFE9"/>
            </a:solidFill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80436" y="2820009"/>
            <a:ext cx="777240" cy="109435"/>
          </a:xfrm>
          <a:prstGeom prst="roundRect">
            <a:avLst>
              <a:gd name="adj" fmla="val 50000"/>
            </a:avLst>
          </a:prstGeom>
          <a:solidFill>
            <a:srgbClr val="E8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80436" y="3138367"/>
            <a:ext cx="1057046" cy="89538"/>
          </a:xfrm>
          <a:prstGeom prst="roundRect">
            <a:avLst>
              <a:gd name="adj" fmla="val 50000"/>
            </a:avLst>
          </a:prstGeom>
          <a:solidFill>
            <a:srgbClr val="EF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580436" y="3377135"/>
            <a:ext cx="932688" cy="89538"/>
          </a:xfrm>
          <a:prstGeom prst="roundRect">
            <a:avLst>
              <a:gd name="adj" fmla="val 50000"/>
            </a:avLst>
          </a:prstGeom>
          <a:solidFill>
            <a:srgbClr val="EF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80436" y="3615903"/>
            <a:ext cx="1025956" cy="89538"/>
          </a:xfrm>
          <a:prstGeom prst="roundRect">
            <a:avLst>
              <a:gd name="adj" fmla="val 50000"/>
            </a:avLst>
          </a:prstGeom>
          <a:solidFill>
            <a:srgbClr val="EF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80436" y="3854671"/>
            <a:ext cx="652881" cy="89538"/>
          </a:xfrm>
          <a:prstGeom prst="roundRect">
            <a:avLst>
              <a:gd name="adj" fmla="val 50000"/>
            </a:avLst>
          </a:prstGeom>
          <a:solidFill>
            <a:srgbClr val="EF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251960" y="3401568"/>
            <a:ext cx="91440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B0A4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19064" y="2788920"/>
            <a:ext cx="1554480" cy="1554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5400">
            <a:solidFill>
              <a:srgbClr val="E07AA8"/>
            </a:solidFill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769864" y="3239719"/>
            <a:ext cx="652881" cy="652881"/>
          </a:xfrm>
          <a:prstGeom prst="roundRect">
            <a:avLst>
              <a:gd name="adj" fmla="val 20000"/>
            </a:avLst>
          </a:prstGeom>
          <a:noFill/>
          <a:ln w="20320">
            <a:solidFill>
              <a:srgbClr val="E0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719343" y="2658343"/>
            <a:ext cx="69951" cy="186537"/>
          </a:xfrm>
          <a:prstGeom prst="roundRect">
            <a:avLst>
              <a:gd name="adj" fmla="val 50000"/>
            </a:avLst>
          </a:prstGeom>
          <a:solidFill>
            <a:srgbClr val="E07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19343" y="4287438"/>
            <a:ext cx="69951" cy="186537"/>
          </a:xfrm>
          <a:prstGeom prst="roundRect">
            <a:avLst>
              <a:gd name="adj" fmla="val 50000"/>
            </a:avLst>
          </a:prstGeom>
          <a:solidFill>
            <a:srgbClr val="E07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88488" y="3189198"/>
            <a:ext cx="186537" cy="69951"/>
          </a:xfrm>
          <a:prstGeom prst="roundRect">
            <a:avLst>
              <a:gd name="adj" fmla="val 50000"/>
            </a:avLst>
          </a:prstGeom>
          <a:solidFill>
            <a:srgbClr val="E07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17583" y="3189198"/>
            <a:ext cx="186537" cy="69951"/>
          </a:xfrm>
          <a:prstGeom prst="roundRect">
            <a:avLst>
              <a:gd name="adj" fmla="val 50000"/>
            </a:avLst>
          </a:prstGeom>
          <a:solidFill>
            <a:srgbClr val="E07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061329" y="2658343"/>
            <a:ext cx="69951" cy="186537"/>
          </a:xfrm>
          <a:prstGeom prst="roundRect">
            <a:avLst>
              <a:gd name="adj" fmla="val 50000"/>
            </a:avLst>
          </a:prstGeom>
          <a:solidFill>
            <a:srgbClr val="E07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61329" y="4287438"/>
            <a:ext cx="69951" cy="186537"/>
          </a:xfrm>
          <a:prstGeom prst="roundRect">
            <a:avLst>
              <a:gd name="adj" fmla="val 50000"/>
            </a:avLst>
          </a:prstGeom>
          <a:solidFill>
            <a:srgbClr val="E07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88488" y="3531184"/>
            <a:ext cx="186537" cy="69951"/>
          </a:xfrm>
          <a:prstGeom prst="roundRect">
            <a:avLst>
              <a:gd name="adj" fmla="val 50000"/>
            </a:avLst>
          </a:prstGeom>
          <a:solidFill>
            <a:srgbClr val="E07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17583" y="3531184"/>
            <a:ext cx="186537" cy="69951"/>
          </a:xfrm>
          <a:prstGeom prst="roundRect">
            <a:avLst>
              <a:gd name="adj" fmla="val 50000"/>
            </a:avLst>
          </a:prstGeom>
          <a:solidFill>
            <a:srgbClr val="E07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3314" y="2658343"/>
            <a:ext cx="69951" cy="186537"/>
          </a:xfrm>
          <a:prstGeom prst="roundRect">
            <a:avLst>
              <a:gd name="adj" fmla="val 50000"/>
            </a:avLst>
          </a:prstGeom>
          <a:solidFill>
            <a:srgbClr val="E07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3314" y="4287438"/>
            <a:ext cx="69951" cy="186537"/>
          </a:xfrm>
          <a:prstGeom prst="roundRect">
            <a:avLst>
              <a:gd name="adj" fmla="val 50000"/>
            </a:avLst>
          </a:prstGeom>
          <a:solidFill>
            <a:srgbClr val="E07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188488" y="3873169"/>
            <a:ext cx="186537" cy="69951"/>
          </a:xfrm>
          <a:prstGeom prst="roundRect">
            <a:avLst>
              <a:gd name="adj" fmla="val 50000"/>
            </a:avLst>
          </a:prstGeom>
          <a:solidFill>
            <a:srgbClr val="E07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17583" y="3873169"/>
            <a:ext cx="186537" cy="69951"/>
          </a:xfrm>
          <a:prstGeom prst="roundRect">
            <a:avLst>
              <a:gd name="adj" fmla="val 50000"/>
            </a:avLst>
          </a:prstGeom>
          <a:solidFill>
            <a:srgbClr val="E07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7040879" y="3401568"/>
            <a:ext cx="91440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B0A4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54922" y="2811780"/>
            <a:ext cx="595274" cy="595274"/>
          </a:xfrm>
          <a:prstGeom prst="ellipse">
            <a:avLst/>
          </a:prstGeom>
          <a:solidFill>
            <a:srgbClr val="6FA0DD"/>
          </a:solidFill>
          <a:ln>
            <a:noFill/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8414766" y="3492093"/>
            <a:ext cx="1275588" cy="113385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6FA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23847" y="5074920"/>
            <a:ext cx="9144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463A53"/>
                </a:solidFill>
                <a:latin typeface="Century Gothic"/>
              </a:rPr>
              <a:t>AI screens your résumé before a human ever sees 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803136"/>
            <a:ext cx="1371600" cy="54864"/>
          </a:xfrm>
          <a:prstGeom prst="rect">
            <a:avLst/>
          </a:prstGeom>
          <a:solidFill>
            <a:srgbClr val="E07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A4B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EEF4"/>
              </a:gs>
              <a:gs pos="100000">
                <a:srgbClr val="E9F1FC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E07AA8"/>
                </a:solidFill>
                <a:latin typeface="Century Gothic"/>
              </a:rPr>
              <a:t>WHAT IS AN LLM?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75807" y="969264"/>
            <a:ext cx="640080" cy="0"/>
          </a:xfrm>
          <a:prstGeom prst="bentConnector3">
            <a:avLst/>
          </a:prstGeom>
          <a:ln w="27940">
            <a:solidFill>
              <a:srgbClr val="E07A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468880" y="2697480"/>
            <a:ext cx="1828800" cy="365760"/>
          </a:xfrm>
          <a:prstGeom prst="roundRect">
            <a:avLst>
              <a:gd name="adj" fmla="val 40000"/>
            </a:avLst>
          </a:prstGeom>
          <a:solidFill>
            <a:srgbClr val="FBE4EF"/>
          </a:solidFill>
          <a:ln w="15240">
            <a:solidFill>
              <a:srgbClr val="E07AA8"/>
            </a:solidFill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15184" y="2807208"/>
            <a:ext cx="292608" cy="146304"/>
          </a:xfrm>
          <a:prstGeom prst="roundRect">
            <a:avLst>
              <a:gd name="adj" fmla="val 50000"/>
            </a:avLst>
          </a:prstGeom>
          <a:solidFill>
            <a:srgbClr val="E07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68880" y="3246120"/>
            <a:ext cx="1828800" cy="365760"/>
          </a:xfrm>
          <a:prstGeom prst="roundRect">
            <a:avLst>
              <a:gd name="adj" fmla="val 40000"/>
            </a:avLst>
          </a:prstGeom>
          <a:solidFill>
            <a:srgbClr val="E6EEFB"/>
          </a:solidFill>
          <a:ln w="15240">
            <a:solidFill>
              <a:srgbClr val="6FA0DD"/>
            </a:solidFill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15184" y="3355848"/>
            <a:ext cx="292608" cy="146304"/>
          </a:xfrm>
          <a:prstGeom prst="roundRect">
            <a:avLst>
              <a:gd name="adj" fmla="val 50000"/>
            </a:avLst>
          </a:prstGeom>
          <a:solidFill>
            <a:srgbClr val="6FA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68880" y="3794760"/>
            <a:ext cx="1828800" cy="365760"/>
          </a:xfrm>
          <a:prstGeom prst="roundRect">
            <a:avLst>
              <a:gd name="adj" fmla="val 40000"/>
            </a:avLst>
          </a:prstGeom>
          <a:solidFill>
            <a:srgbClr val="FDECE5"/>
          </a:solidFill>
          <a:ln w="15240">
            <a:solidFill>
              <a:srgbClr val="EF9D84"/>
            </a:solidFill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15184" y="3904488"/>
            <a:ext cx="292608" cy="146304"/>
          </a:xfrm>
          <a:prstGeom prst="roundRect">
            <a:avLst>
              <a:gd name="adj" fmla="val 50000"/>
            </a:avLst>
          </a:prstGeom>
          <a:solidFill>
            <a:srgbClr val="EF9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777740" y="3355848"/>
            <a:ext cx="96012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B0A4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60820" y="2674620"/>
            <a:ext cx="1691640" cy="1691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5400">
            <a:solidFill>
              <a:srgbClr val="6FA0DD"/>
            </a:solidFill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051395" y="3165195"/>
            <a:ext cx="710488" cy="710488"/>
          </a:xfrm>
          <a:prstGeom prst="roundRect">
            <a:avLst>
              <a:gd name="adj" fmla="val 20000"/>
            </a:avLst>
          </a:prstGeom>
          <a:noFill/>
          <a:ln w="20320">
            <a:solidFill>
              <a:srgbClr val="6FA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96417" y="2532522"/>
            <a:ext cx="76123" cy="202996"/>
          </a:xfrm>
          <a:prstGeom prst="roundRect">
            <a:avLst>
              <a:gd name="adj" fmla="val 50000"/>
            </a:avLst>
          </a:prstGeom>
          <a:solidFill>
            <a:srgbClr val="6FA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96417" y="4305360"/>
            <a:ext cx="76123" cy="202996"/>
          </a:xfrm>
          <a:prstGeom prst="roundRect">
            <a:avLst>
              <a:gd name="adj" fmla="val 50000"/>
            </a:avLst>
          </a:prstGeom>
          <a:solidFill>
            <a:srgbClr val="6FA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18722" y="3110217"/>
            <a:ext cx="202996" cy="76123"/>
          </a:xfrm>
          <a:prstGeom prst="roundRect">
            <a:avLst>
              <a:gd name="adj" fmla="val 50000"/>
            </a:avLst>
          </a:prstGeom>
          <a:solidFill>
            <a:srgbClr val="6FA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60" y="3110217"/>
            <a:ext cx="202996" cy="76123"/>
          </a:xfrm>
          <a:prstGeom prst="roundRect">
            <a:avLst>
              <a:gd name="adj" fmla="val 50000"/>
            </a:avLst>
          </a:prstGeom>
          <a:solidFill>
            <a:srgbClr val="6FA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68578" y="2532522"/>
            <a:ext cx="76123" cy="202996"/>
          </a:xfrm>
          <a:prstGeom prst="roundRect">
            <a:avLst>
              <a:gd name="adj" fmla="val 50000"/>
            </a:avLst>
          </a:prstGeom>
          <a:solidFill>
            <a:srgbClr val="6FA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68578" y="4305360"/>
            <a:ext cx="76123" cy="202996"/>
          </a:xfrm>
          <a:prstGeom prst="roundRect">
            <a:avLst>
              <a:gd name="adj" fmla="val 50000"/>
            </a:avLst>
          </a:prstGeom>
          <a:solidFill>
            <a:srgbClr val="6FA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18722" y="3482378"/>
            <a:ext cx="202996" cy="76123"/>
          </a:xfrm>
          <a:prstGeom prst="roundRect">
            <a:avLst>
              <a:gd name="adj" fmla="val 50000"/>
            </a:avLst>
          </a:prstGeom>
          <a:solidFill>
            <a:srgbClr val="6FA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91560" y="3482378"/>
            <a:ext cx="202996" cy="76123"/>
          </a:xfrm>
          <a:prstGeom prst="roundRect">
            <a:avLst>
              <a:gd name="adj" fmla="val 50000"/>
            </a:avLst>
          </a:prstGeom>
          <a:solidFill>
            <a:srgbClr val="6FA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40738" y="2532522"/>
            <a:ext cx="76123" cy="202996"/>
          </a:xfrm>
          <a:prstGeom prst="roundRect">
            <a:avLst>
              <a:gd name="adj" fmla="val 50000"/>
            </a:avLst>
          </a:prstGeom>
          <a:solidFill>
            <a:srgbClr val="6FA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0738" y="4305360"/>
            <a:ext cx="76123" cy="202996"/>
          </a:xfrm>
          <a:prstGeom prst="roundRect">
            <a:avLst>
              <a:gd name="adj" fmla="val 50000"/>
            </a:avLst>
          </a:prstGeom>
          <a:solidFill>
            <a:srgbClr val="6FA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18722" y="3854538"/>
            <a:ext cx="202996" cy="76123"/>
          </a:xfrm>
          <a:prstGeom prst="roundRect">
            <a:avLst>
              <a:gd name="adj" fmla="val 50000"/>
            </a:avLst>
          </a:prstGeom>
          <a:solidFill>
            <a:srgbClr val="6FA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91560" y="3854538"/>
            <a:ext cx="202996" cy="76123"/>
          </a:xfrm>
          <a:prstGeom prst="roundRect">
            <a:avLst>
              <a:gd name="adj" fmla="val 50000"/>
            </a:avLst>
          </a:prstGeom>
          <a:solidFill>
            <a:srgbClr val="6FA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4560" y="5029200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574B63"/>
                </a:solidFill>
                <a:latin typeface="Calibri"/>
              </a:rPr>
              <a:t>Trained on</a:t>
            </a:r>
          </a:p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574B63"/>
                </a:solidFill>
                <a:latin typeface="Calibri"/>
              </a:rPr>
              <a:t>human 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5029200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574B63"/>
                </a:solidFill>
                <a:latin typeface="Calibri"/>
              </a:rPr>
              <a:t>Learns the</a:t>
            </a:r>
          </a:p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574B63"/>
                </a:solidFill>
                <a:latin typeface="Calibri"/>
              </a:rPr>
              <a:t>patterns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803136"/>
            <a:ext cx="1645920" cy="54864"/>
          </a:xfrm>
          <a:prstGeom prst="rect">
            <a:avLst/>
          </a:prstGeom>
          <a:solidFill>
            <a:srgbClr val="E07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A4B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E4EF"/>
              </a:gs>
              <a:gs pos="100000">
                <a:srgbClr val="E6EEFB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E07AA8"/>
                </a:solidFill>
                <a:latin typeface="Century Gothic"/>
              </a:rPr>
              <a:t>THE QUESTION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75807" y="969264"/>
            <a:ext cx="640080" cy="0"/>
          </a:xfrm>
          <a:prstGeom prst="bentConnector3">
            <a:avLst/>
          </a:prstGeom>
          <a:ln w="27940">
            <a:solidFill>
              <a:srgbClr val="E07A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981047" y="2331720"/>
            <a:ext cx="82296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0" b="1" i="0">
                <a:solidFill>
                  <a:srgbClr val="E888B4"/>
                </a:solidFill>
                <a:latin typeface="Calibri"/>
              </a:rPr>
              <a:t>♀</a:t>
            </a:r>
            <a:r>
              <a:rPr sz="9600" b="1" i="0">
                <a:solidFill>
                  <a:srgbClr val="463A53"/>
                </a:solidFill>
                <a:latin typeface="Calibri"/>
              </a:rPr>
              <a:t>   =   </a:t>
            </a:r>
            <a:r>
              <a:rPr sz="9600" b="1" i="0">
                <a:solidFill>
                  <a:srgbClr val="6FA0DD"/>
                </a:solidFill>
                <a:latin typeface="Calibri"/>
              </a:rPr>
              <a:t>♂</a:t>
            </a:r>
            <a:r>
              <a:rPr sz="9600" b="1" i="0">
                <a:solidFill>
                  <a:srgbClr val="8A7D95"/>
                </a:solidFill>
                <a:latin typeface="Calibri"/>
              </a:rPr>
              <a:t>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3847" y="4343400"/>
            <a:ext cx="91440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463A53"/>
                </a:solidFill>
                <a:latin typeface="Century Gothic"/>
              </a:rPr>
              <a:t>Does AI judge everyone fairly?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920240" cy="54864"/>
          </a:xfrm>
          <a:prstGeom prst="rect">
            <a:avLst/>
          </a:prstGeom>
          <a:solidFill>
            <a:srgbClr val="E07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A4B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EEF4"/>
              </a:gs>
              <a:gs pos="100000">
                <a:srgbClr val="E9F1FC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E07AA8"/>
                </a:solidFill>
                <a:latin typeface="Century Gothic"/>
              </a:rPr>
              <a:t>THE PAPER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75807" y="969264"/>
            <a:ext cx="640080" cy="0"/>
          </a:xfrm>
          <a:prstGeom prst="bentConnector3">
            <a:avLst/>
          </a:prstGeom>
          <a:ln w="27940">
            <a:solidFill>
              <a:srgbClr val="E07A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2788920" y="2651760"/>
            <a:ext cx="1554480" cy="1554480"/>
          </a:xfrm>
          <a:prstGeom prst="ellipse">
            <a:avLst/>
          </a:prstGeom>
          <a:noFill/>
          <a:ln w="25400">
            <a:solidFill>
              <a:srgbClr val="8A7D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286353" y="2651760"/>
            <a:ext cx="559612" cy="1554480"/>
          </a:xfrm>
          <a:prstGeom prst="ellipse">
            <a:avLst/>
          </a:prstGeom>
          <a:noFill/>
          <a:ln w="17780">
            <a:solidFill>
              <a:srgbClr val="8A7D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788920" y="3429000"/>
            <a:ext cx="1554480" cy="0"/>
          </a:xfrm>
          <a:prstGeom prst="bentConnector3">
            <a:avLst/>
          </a:prstGeom>
          <a:ln w="17780">
            <a:solidFill>
              <a:srgbClr val="8A7D9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851099" y="3024835"/>
            <a:ext cx="1430121" cy="0"/>
          </a:xfrm>
          <a:prstGeom prst="bentConnector3">
            <a:avLst/>
          </a:prstGeom>
          <a:ln w="13970">
            <a:solidFill>
              <a:srgbClr val="8A7D9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851099" y="3833164"/>
            <a:ext cx="1430121" cy="0"/>
          </a:xfrm>
          <a:prstGeom prst="bentConnector3">
            <a:avLst/>
          </a:prstGeom>
          <a:ln w="13970">
            <a:solidFill>
              <a:srgbClr val="8A7D9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ight Arrow 9"/>
          <p:cNvSpPr/>
          <p:nvPr/>
        </p:nvSpPr>
        <p:spPr>
          <a:xfrm>
            <a:off x="5029200" y="3264408"/>
            <a:ext cx="100584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B0A4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0" y="2765145"/>
            <a:ext cx="2011680" cy="13277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EFDFE9"/>
            </a:solidFill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806232" y="3097072"/>
            <a:ext cx="663854" cy="663854"/>
          </a:xfrm>
          <a:prstGeom prst="ellipse">
            <a:avLst/>
          </a:prstGeom>
          <a:solidFill>
            <a:srgbClr val="E07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23847" y="5074920"/>
            <a:ext cx="9144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463A53"/>
                </a:solidFill>
                <a:latin typeface="Century Gothic"/>
              </a:rPr>
              <a:t>Bias was found in the West — now tested in Japan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803136"/>
            <a:ext cx="2194560" cy="54864"/>
          </a:xfrm>
          <a:prstGeom prst="rect">
            <a:avLst/>
          </a:prstGeom>
          <a:solidFill>
            <a:srgbClr val="E07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A4B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EEF4"/>
              </a:gs>
              <a:gs pos="100000">
                <a:srgbClr val="E9F1FC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E888B4"/>
                </a:solidFill>
                <a:latin typeface="Century Gothic"/>
              </a:rPr>
              <a:t>THE METHOD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75807" y="969264"/>
            <a:ext cx="640080" cy="0"/>
          </a:xfrm>
          <a:prstGeom prst="bentConnector3">
            <a:avLst/>
          </a:prstGeom>
          <a:ln w="27940">
            <a:solidFill>
              <a:srgbClr val="E888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880360" y="2258568"/>
            <a:ext cx="1828800" cy="2340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6510">
            <a:solidFill>
              <a:srgbClr val="EFDFE9"/>
            </a:solidFill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72968" y="2551175"/>
            <a:ext cx="914400" cy="128747"/>
          </a:xfrm>
          <a:prstGeom prst="roundRect">
            <a:avLst>
              <a:gd name="adj" fmla="val 50000"/>
            </a:avLst>
          </a:prstGeom>
          <a:solidFill>
            <a:srgbClr val="E8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72968" y="2925714"/>
            <a:ext cx="1243584" cy="105338"/>
          </a:xfrm>
          <a:prstGeom prst="roundRect">
            <a:avLst>
              <a:gd name="adj" fmla="val 50000"/>
            </a:avLst>
          </a:prstGeom>
          <a:solidFill>
            <a:srgbClr val="EF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72968" y="3206617"/>
            <a:ext cx="1097280" cy="105338"/>
          </a:xfrm>
          <a:prstGeom prst="roundRect">
            <a:avLst>
              <a:gd name="adj" fmla="val 50000"/>
            </a:avLst>
          </a:prstGeom>
          <a:solidFill>
            <a:srgbClr val="EF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172968" y="3487521"/>
            <a:ext cx="1207008" cy="105338"/>
          </a:xfrm>
          <a:prstGeom prst="roundRect">
            <a:avLst>
              <a:gd name="adj" fmla="val 50000"/>
            </a:avLst>
          </a:prstGeom>
          <a:solidFill>
            <a:srgbClr val="EF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72968" y="3768425"/>
            <a:ext cx="768096" cy="105338"/>
          </a:xfrm>
          <a:prstGeom prst="roundRect">
            <a:avLst>
              <a:gd name="adj" fmla="val 50000"/>
            </a:avLst>
          </a:prstGeom>
          <a:solidFill>
            <a:srgbClr val="EF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3803538"/>
            <a:ext cx="1828800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0" i="0">
                <a:solidFill>
                  <a:srgbClr val="E888B4"/>
                </a:solidFill>
                <a:latin typeface="Calibri"/>
              </a:rPr>
              <a:t>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0007" y="2880360"/>
            <a:ext cx="20116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 i="0">
                <a:solidFill>
                  <a:srgbClr val="B0A4BB"/>
                </a:solidFill>
                <a:latin typeface="Century Gothic"/>
              </a:rPr>
              <a:t>=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79792" y="2258568"/>
            <a:ext cx="1828800" cy="2340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6510">
            <a:solidFill>
              <a:srgbClr val="EFDFE9"/>
            </a:solidFill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0" y="2551175"/>
            <a:ext cx="914400" cy="128747"/>
          </a:xfrm>
          <a:prstGeom prst="roundRect">
            <a:avLst>
              <a:gd name="adj" fmla="val 50000"/>
            </a:avLst>
          </a:prstGeom>
          <a:solidFill>
            <a:srgbClr val="6FA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0" y="2925714"/>
            <a:ext cx="1243584" cy="105338"/>
          </a:xfrm>
          <a:prstGeom prst="roundRect">
            <a:avLst>
              <a:gd name="adj" fmla="val 50000"/>
            </a:avLst>
          </a:prstGeom>
          <a:solidFill>
            <a:srgbClr val="EF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0" y="3206617"/>
            <a:ext cx="1097280" cy="105338"/>
          </a:xfrm>
          <a:prstGeom prst="roundRect">
            <a:avLst>
              <a:gd name="adj" fmla="val 50000"/>
            </a:avLst>
          </a:prstGeom>
          <a:solidFill>
            <a:srgbClr val="EF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0" y="3487521"/>
            <a:ext cx="1207008" cy="105338"/>
          </a:xfrm>
          <a:prstGeom prst="roundRect">
            <a:avLst>
              <a:gd name="adj" fmla="val 50000"/>
            </a:avLst>
          </a:prstGeom>
          <a:solidFill>
            <a:srgbClr val="EF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0" y="3768425"/>
            <a:ext cx="768096" cy="105338"/>
          </a:xfrm>
          <a:prstGeom prst="roundRect">
            <a:avLst>
              <a:gd name="adj" fmla="val 50000"/>
            </a:avLst>
          </a:prstGeom>
          <a:solidFill>
            <a:srgbClr val="EF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79792" y="3803538"/>
            <a:ext cx="1828800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0" i="0">
                <a:solidFill>
                  <a:srgbClr val="6FA0DD"/>
                </a:solidFill>
                <a:latin typeface="Calibri"/>
              </a:rPr>
              <a:t>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3847" y="5257800"/>
            <a:ext cx="9144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463A53"/>
                </a:solidFill>
                <a:latin typeface="Century Gothic"/>
              </a:rPr>
              <a:t>Same résumé — only the name changes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803136"/>
            <a:ext cx="2468880" cy="54864"/>
          </a:xfrm>
          <a:prstGeom prst="rect">
            <a:avLst/>
          </a:prstGeom>
          <a:solidFill>
            <a:srgbClr val="E8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A4B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EEF4"/>
              </a:gs>
              <a:gs pos="100000">
                <a:srgbClr val="E9F1FC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E888B4"/>
                </a:solidFill>
                <a:latin typeface="Century Gothic"/>
              </a:rPr>
              <a:t>THE FINDING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75807" y="969264"/>
            <a:ext cx="640080" cy="0"/>
          </a:xfrm>
          <a:prstGeom prst="bentConnector3">
            <a:avLst/>
          </a:prstGeom>
          <a:ln w="27940">
            <a:solidFill>
              <a:srgbClr val="E888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75207" y="1234440"/>
            <a:ext cx="102412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E888B4"/>
                </a:solidFill>
                <a:latin typeface="Century Gothic"/>
              </a:rPr>
              <a:t>♀  </a:t>
            </a:r>
            <a:r>
              <a:rPr sz="2700" b="1" i="0">
                <a:solidFill>
                  <a:srgbClr val="463A53"/>
                </a:solidFill>
                <a:latin typeface="Century Gothic"/>
              </a:rPr>
              <a:t>Female names scored higher — every model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49527" y="5257800"/>
            <a:ext cx="9692640" cy="0"/>
          </a:xfrm>
          <a:prstGeom prst="bentConnector3">
            <a:avLst/>
          </a:prstGeom>
          <a:ln w="25400">
            <a:solidFill>
              <a:srgbClr val="EFDF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 Same Side Corner Rectangle 6"/>
          <p:cNvSpPr/>
          <p:nvPr/>
        </p:nvSpPr>
        <p:spPr>
          <a:xfrm>
            <a:off x="2826867" y="2848356"/>
            <a:ext cx="868680" cy="2409444"/>
          </a:xfrm>
          <a:prstGeom prst="round2SameRect">
            <a:avLst>
              <a:gd name="adj1" fmla="val 14000"/>
              <a:gd name="adj2" fmla="val 0"/>
            </a:avLst>
          </a:prstGeom>
          <a:gradFill rotWithShape="1">
            <a:gsLst>
              <a:gs pos="0">
                <a:srgbClr val="F6ACC9"/>
              </a:gs>
              <a:gs pos="100000">
                <a:srgbClr val="E888B4"/>
              </a:gs>
            </a:gsLst>
            <a:lin scaled="0" ang="16200000"/>
          </a:gradFill>
          <a:ln>
            <a:noFill/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43987" y="2345436"/>
            <a:ext cx="1234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463A53"/>
                </a:solidFill>
                <a:latin typeface="Century Gothic"/>
              </a:rPr>
              <a:t>.38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6827" y="5367528"/>
            <a:ext cx="1508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7D95"/>
                </a:solidFill>
                <a:latin typeface="Calibri"/>
              </a:rPr>
              <a:t>GPT-4o</a:t>
            </a:r>
          </a:p>
        </p:txBody>
      </p:sp>
      <p:sp>
        <p:nvSpPr>
          <p:cNvPr id="10" name="Round Same Side Corner Rectangle 9"/>
          <p:cNvSpPr/>
          <p:nvPr/>
        </p:nvSpPr>
        <p:spPr>
          <a:xfrm>
            <a:off x="4244187" y="3103473"/>
            <a:ext cx="868680" cy="2154326"/>
          </a:xfrm>
          <a:prstGeom prst="round2SameRect">
            <a:avLst>
              <a:gd name="adj1" fmla="val 14000"/>
              <a:gd name="adj2" fmla="val 0"/>
            </a:avLst>
          </a:prstGeom>
          <a:gradFill rotWithShape="1">
            <a:gsLst>
              <a:gs pos="0">
                <a:srgbClr val="F6ACC9"/>
              </a:gs>
              <a:gs pos="100000">
                <a:srgbClr val="E888B4"/>
              </a:gs>
            </a:gsLst>
            <a:lin scaled="0" ang="16200000"/>
          </a:gradFill>
          <a:ln>
            <a:noFill/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1307" y="2600553"/>
            <a:ext cx="1234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463A53"/>
                </a:solidFill>
                <a:latin typeface="Century Gothic"/>
              </a:rPr>
              <a:t>.34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24147" y="5367528"/>
            <a:ext cx="1508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7D95"/>
                </a:solidFill>
                <a:latin typeface="Calibri"/>
              </a:rPr>
              <a:t>Claude</a:t>
            </a:r>
          </a:p>
        </p:txBody>
      </p:sp>
      <p:sp>
        <p:nvSpPr>
          <p:cNvPr id="13" name="Round Same Side Corner Rectangle 12"/>
          <p:cNvSpPr/>
          <p:nvPr/>
        </p:nvSpPr>
        <p:spPr>
          <a:xfrm>
            <a:off x="5661507" y="3301898"/>
            <a:ext cx="868680" cy="1955901"/>
          </a:xfrm>
          <a:prstGeom prst="round2SameRect">
            <a:avLst>
              <a:gd name="adj1" fmla="val 14000"/>
              <a:gd name="adj2" fmla="val 0"/>
            </a:avLst>
          </a:prstGeom>
          <a:gradFill rotWithShape="1">
            <a:gsLst>
              <a:gs pos="0">
                <a:srgbClr val="F6ACC9"/>
              </a:gs>
              <a:gs pos="100000">
                <a:srgbClr val="E888B4"/>
              </a:gs>
            </a:gsLst>
            <a:lin scaled="0" ang="16200000"/>
          </a:gradFill>
          <a:ln>
            <a:noFill/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78627" y="2798978"/>
            <a:ext cx="1234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463A53"/>
                </a:solidFill>
                <a:latin typeface="Century Gothic"/>
              </a:rPr>
              <a:t>.31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1467" y="5367528"/>
            <a:ext cx="1508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7D95"/>
                </a:solidFill>
                <a:latin typeface="Calibri"/>
              </a:rPr>
              <a:t>Gemini</a:t>
            </a:r>
          </a:p>
        </p:txBody>
      </p:sp>
      <p:sp>
        <p:nvSpPr>
          <p:cNvPr id="16" name="Round Same Side Corner Rectangle 15"/>
          <p:cNvSpPr/>
          <p:nvPr/>
        </p:nvSpPr>
        <p:spPr>
          <a:xfrm>
            <a:off x="7078827" y="4294022"/>
            <a:ext cx="868680" cy="963777"/>
          </a:xfrm>
          <a:prstGeom prst="round2SameRect">
            <a:avLst>
              <a:gd name="adj1" fmla="val 14000"/>
              <a:gd name="adj2" fmla="val 0"/>
            </a:avLst>
          </a:prstGeom>
          <a:gradFill rotWithShape="1">
            <a:gsLst>
              <a:gs pos="0">
                <a:srgbClr val="F6ACC9"/>
              </a:gs>
              <a:gs pos="100000">
                <a:srgbClr val="E888B4"/>
              </a:gs>
            </a:gsLst>
            <a:lin scaled="0" ang="16200000"/>
          </a:gradFill>
          <a:ln>
            <a:noFill/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5947" y="3791102"/>
            <a:ext cx="1234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463A53"/>
                </a:solidFill>
                <a:latin typeface="Century Gothic"/>
              </a:rPr>
              <a:t>.15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8787" y="5367528"/>
            <a:ext cx="1508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7D95"/>
                </a:solidFill>
                <a:latin typeface="Calibri"/>
              </a:rPr>
              <a:t>DeepSeek</a:t>
            </a:r>
          </a:p>
        </p:txBody>
      </p:sp>
      <p:sp>
        <p:nvSpPr>
          <p:cNvPr id="19" name="Round Same Side Corner Rectangle 18"/>
          <p:cNvSpPr/>
          <p:nvPr/>
        </p:nvSpPr>
        <p:spPr>
          <a:xfrm>
            <a:off x="8496147" y="4804257"/>
            <a:ext cx="868680" cy="453542"/>
          </a:xfrm>
          <a:prstGeom prst="round2SameRect">
            <a:avLst>
              <a:gd name="adj1" fmla="val 14000"/>
              <a:gd name="adj2" fmla="val 0"/>
            </a:avLst>
          </a:prstGeom>
          <a:gradFill rotWithShape="1">
            <a:gsLst>
              <a:gs pos="0">
                <a:srgbClr val="F6ACC9"/>
              </a:gs>
              <a:gs pos="100000">
                <a:srgbClr val="E888B4"/>
              </a:gs>
            </a:gsLst>
            <a:lin scaled="0" ang="16200000"/>
          </a:gradFill>
          <a:ln>
            <a:noFill/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3267" y="4301337"/>
            <a:ext cx="1234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463A53"/>
                </a:solidFill>
                <a:latin typeface="Century Gothic"/>
              </a:rPr>
              <a:t>.07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6107" y="5367528"/>
            <a:ext cx="1508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7D95"/>
                </a:solidFill>
                <a:latin typeface="Calibri"/>
              </a:rPr>
              <a:t>Llama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3847" y="5916168"/>
            <a:ext cx="9144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 spc="240">
                <a:solidFill>
                  <a:srgbClr val="8A7D95"/>
                </a:solidFill>
                <a:latin typeface="Century Gothic"/>
              </a:rPr>
              <a:t>BIAS TOWARD IDENTICAL FEMALE CANDIDATES  ·  EFFECT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803136"/>
            <a:ext cx="2743200" cy="54864"/>
          </a:xfrm>
          <a:prstGeom prst="rect">
            <a:avLst/>
          </a:prstGeom>
          <a:solidFill>
            <a:srgbClr val="E8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A4B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EEF4"/>
              </a:gs>
              <a:gs pos="100000">
                <a:srgbClr val="E9F1FC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6FA0DD"/>
                </a:solidFill>
                <a:latin typeface="Century Gothic"/>
              </a:rPr>
              <a:t>FIX 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75807" y="969264"/>
            <a:ext cx="640080" cy="0"/>
          </a:xfrm>
          <a:prstGeom prst="bentConnector3">
            <a:avLst/>
          </a:prstGeom>
          <a:ln w="27940">
            <a:solidFill>
              <a:srgbClr val="6FA0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078327" y="2148840"/>
            <a:ext cx="6035040" cy="914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EFDFE9"/>
            </a:solidFill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78327" y="21488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1">
                <a:solidFill>
                  <a:srgbClr val="463A53"/>
                </a:solidFill>
                <a:latin typeface="Century Gothic"/>
              </a:rPr>
              <a:t>“Ignore the name and gender.”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32807" y="3794760"/>
            <a:ext cx="292608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0" b="1" i="0">
                <a:solidFill>
                  <a:srgbClr val="E07AA8"/>
                </a:solidFill>
                <a:latin typeface="Calibri"/>
              </a:rPr>
              <a:t>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3847" y="5257800"/>
            <a:ext cx="9144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463A53"/>
                </a:solidFill>
                <a:latin typeface="Century Gothic"/>
              </a:rPr>
              <a:t>Barely changed — bias remained in every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803136"/>
            <a:ext cx="3017520" cy="54864"/>
          </a:xfrm>
          <a:prstGeom prst="rect">
            <a:avLst/>
          </a:prstGeom>
          <a:solidFill>
            <a:srgbClr val="6FA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A4B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EEF4"/>
              </a:gs>
              <a:gs pos="100000">
                <a:srgbClr val="E9F1FC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6FA0DD"/>
                </a:solidFill>
                <a:latin typeface="Century Gothic"/>
              </a:rPr>
              <a:t>FIX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75807" y="969264"/>
            <a:ext cx="640080" cy="0"/>
          </a:xfrm>
          <a:prstGeom prst="bentConnector3">
            <a:avLst/>
          </a:prstGeom>
          <a:ln w="27940">
            <a:solidFill>
              <a:srgbClr val="6FA0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889607" y="2331720"/>
            <a:ext cx="3108960" cy="914400"/>
          </a:xfrm>
          <a:prstGeom prst="roundRect">
            <a:avLst>
              <a:gd name="adj" fmla="val 28000"/>
            </a:avLst>
          </a:prstGeom>
          <a:solidFill>
            <a:srgbClr val="FBE4EF"/>
          </a:solidFill>
          <a:ln>
            <a:noFill/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9607" y="2331720"/>
            <a:ext cx="3108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E07AA8"/>
                </a:solidFill>
                <a:latin typeface="Calibri"/>
              </a:rPr>
              <a:t>Haruto Sato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638647" y="2624327"/>
            <a:ext cx="91440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B0A4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93127" y="2331720"/>
            <a:ext cx="3108960" cy="914400"/>
          </a:xfrm>
          <a:prstGeom prst="roundRect">
            <a:avLst>
              <a:gd name="adj" fmla="val 28000"/>
            </a:avLst>
          </a:prstGeom>
          <a:solidFill>
            <a:srgbClr val="E6EEFB"/>
          </a:solidFill>
          <a:ln>
            <a:noFill/>
          </a:ln>
          <a:effectLst>
            <a:outerShdw blurRad="228600" dist="127000" dir="5400000" rotWithShape="0">
              <a:srgbClr val="C880A8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93127" y="2331720"/>
            <a:ext cx="3108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6FA0DD"/>
                </a:solidFill>
                <a:latin typeface="Consolas"/>
              </a:rPr>
              <a:t>[PRIVATE_PERSON]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2807" y="3840480"/>
            <a:ext cx="292608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0" b="1" i="0">
                <a:solidFill>
                  <a:srgbClr val="6FA0DD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647" y="5303520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463A53"/>
                </a:solidFill>
                <a:latin typeface="Century Gothic"/>
              </a:rPr>
              <a:t>Hide the name → the bias almost disappears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03136"/>
            <a:ext cx="3291840" cy="54864"/>
          </a:xfrm>
          <a:prstGeom prst="rect">
            <a:avLst/>
          </a:prstGeom>
          <a:solidFill>
            <a:srgbClr val="6FA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A4B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6EEFB"/>
              </a:gs>
              <a:gs pos="100000">
                <a:srgbClr val="FBE4EF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EF9D84"/>
                </a:solidFill>
                <a:latin typeface="Century Gothic"/>
              </a:rPr>
              <a:t>WHY IT HAPPENS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75807" y="969264"/>
            <a:ext cx="640080" cy="0"/>
          </a:xfrm>
          <a:prstGeom prst="bentConnector3">
            <a:avLst/>
          </a:prstGeom>
          <a:ln w="27940">
            <a:solidFill>
              <a:srgbClr val="EF9D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981047" y="2286000"/>
            <a:ext cx="8229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0" b="1" i="0">
                <a:solidFill>
                  <a:srgbClr val="B0A4BB"/>
                </a:solidFill>
                <a:latin typeface="Calibri"/>
              </a:rPr>
              <a:t>♂</a:t>
            </a:r>
            <a:r>
              <a:rPr sz="8000" b="1" i="0">
                <a:solidFill>
                  <a:srgbClr val="463A53"/>
                </a:solidFill>
                <a:latin typeface="Calibri"/>
              </a:rPr>
              <a:t>        </a:t>
            </a:r>
            <a:r>
              <a:rPr sz="8000" b="1" i="0">
                <a:solidFill>
                  <a:srgbClr val="E888B4"/>
                </a:solidFill>
                <a:latin typeface="Calibri"/>
              </a:rPr>
              <a:t>♀</a:t>
            </a:r>
          </a:p>
        </p:txBody>
      </p:sp>
      <p:sp>
        <p:nvSpPr>
          <p:cNvPr id="6" name="Rounded Rectangle 5"/>
          <p:cNvSpPr/>
          <p:nvPr/>
        </p:nvSpPr>
        <p:spPr>
          <a:xfrm rot="360000">
            <a:off x="3169767" y="3703320"/>
            <a:ext cx="5852160" cy="146304"/>
          </a:xfrm>
          <a:prstGeom prst="roundRect">
            <a:avLst>
              <a:gd name="adj" fmla="val 50000"/>
            </a:avLst>
          </a:prstGeom>
          <a:solidFill>
            <a:srgbClr val="8A7D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13551" y="3383280"/>
            <a:ext cx="164592" cy="640080"/>
          </a:xfrm>
          <a:prstGeom prst="roundRect">
            <a:avLst>
              <a:gd name="adj" fmla="val 50000"/>
            </a:avLst>
          </a:prstGeom>
          <a:solidFill>
            <a:srgbClr val="8A7D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647" y="4846320"/>
            <a:ext cx="10058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300" b="1" i="0">
                <a:solidFill>
                  <a:srgbClr val="463A53"/>
                </a:solidFill>
                <a:latin typeface="Century Gothic"/>
              </a:rPr>
              <a:t>Fairness training may over-correct — tipping slightly toward women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803136"/>
            <a:ext cx="3566160" cy="54864"/>
          </a:xfrm>
          <a:prstGeom prst="rect">
            <a:avLst/>
          </a:prstGeom>
          <a:solidFill>
            <a:srgbClr val="EF9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A4B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E4EF"/>
              </a:gs>
              <a:gs pos="100000">
                <a:srgbClr val="E6EEFB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6FA0DD"/>
                </a:solidFill>
                <a:latin typeface="Century Gothic"/>
              </a:rPr>
              <a:t>THE TAKEAWAY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75807" y="969264"/>
            <a:ext cx="640080" cy="0"/>
          </a:xfrm>
          <a:prstGeom prst="bentConnector3">
            <a:avLst/>
          </a:prstGeom>
          <a:ln w="27940">
            <a:solidFill>
              <a:srgbClr val="6FA0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75207" y="2331720"/>
            <a:ext cx="1024128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3400" b="1" i="0">
                <a:solidFill>
                  <a:srgbClr val="463A53"/>
                </a:solidFill>
                <a:latin typeface="Century Gothic"/>
              </a:rPr>
              <a:t>AI may decide who gets an interview</a:t>
            </a:r>
          </a:p>
          <a:p>
            <a:pPr algn="ctr">
              <a:lnSpc>
                <a:spcPct val="112000"/>
              </a:lnSpc>
            </a:pPr>
            <a:r>
              <a:rPr sz="3400" b="1" i="0">
                <a:solidFill>
                  <a:srgbClr val="463A53"/>
                </a:solidFill>
                <a:latin typeface="Century Gothic"/>
              </a:rPr>
              <a:t/>
            </a:r>
            <a:r>
              <a:rPr sz="3400" b="1" i="0">
                <a:solidFill>
                  <a:srgbClr val="E07AA8"/>
                </a:solidFill>
                <a:latin typeface="Century Gothic"/>
              </a:rPr>
              <a:t>before a human ever sees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3847" y="4846320"/>
            <a:ext cx="9144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8A7D95"/>
                </a:solidFill>
                <a:latin typeface="Century Gothic"/>
              </a:rPr>
              <a:t>Test it carefully before we trust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3840480" cy="54864"/>
          </a:xfrm>
          <a:prstGeom prst="rect">
            <a:avLst/>
          </a:prstGeom>
          <a:solidFill>
            <a:srgbClr val="6FA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A4B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EEF4"/>
              </a:gs>
              <a:gs pos="100000">
                <a:srgbClr val="E9F1FC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69767" y="2468880"/>
            <a:ext cx="5852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 i="0">
                <a:solidFill>
                  <a:srgbClr val="E888B4"/>
                </a:solidFill>
                <a:latin typeface="Calibri"/>
              </a:rPr>
              <a:t>♀</a:t>
            </a:r>
            <a:r>
              <a:rPr sz="6000" b="0" i="0">
                <a:solidFill>
                  <a:srgbClr val="463A53"/>
                </a:solidFill>
                <a:latin typeface="Calibri"/>
              </a:rPr>
              <a:t>    </a:t>
            </a:r>
            <a:r>
              <a:rPr sz="6000" b="0" i="0">
                <a:solidFill>
                  <a:srgbClr val="6FA0DD"/>
                </a:solidFill>
                <a:latin typeface="Calibri"/>
              </a:rPr>
              <a:t>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3847" y="3794760"/>
            <a:ext cx="9144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463A53"/>
                </a:solidFill>
                <a:latin typeface="Century Gothic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3847" y="4846320"/>
            <a:ext cx="9144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 spc="160">
                <a:solidFill>
                  <a:srgbClr val="8A7D95"/>
                </a:solidFill>
                <a:latin typeface="Century Gothic"/>
              </a:rPr>
              <a:t>Gender Bias in LLM Hiring Decisions  ·  Evidence from Japan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