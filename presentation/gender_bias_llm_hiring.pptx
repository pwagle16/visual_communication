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060000">
            <a:off x="868680" y="114300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480000">
            <a:off x="9646920" y="361188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1325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0" b="0" i="0">
                <a:solidFill>
                  <a:srgbClr val="D6749C"/>
                </a:solidFill>
                <a:latin typeface="Calibri"/>
              </a:rPr>
              <a:t>♀</a:t>
            </a:r>
            <a:r>
              <a:rPr sz="6200" b="0" i="0">
                <a:solidFill>
                  <a:srgbClr val="9B8571"/>
                </a:solidFill>
                <a:latin typeface="Calibri"/>
              </a:rPr>
              <a:t>   vs   </a:t>
            </a:r>
            <a:r>
              <a:rPr sz="62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2880360"/>
            <a:ext cx="104241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</a:pPr>
            <a:r>
              <a:rPr sz="4000" b="1" i="0">
                <a:solidFill>
                  <a:srgbClr val="3E2C1E"/>
                </a:solidFill>
                <a:latin typeface="Georgia"/>
              </a:rPr>
              <a:t>Gender bias when </a:t>
            </a:r>
            <a:r>
              <a:rPr sz="4000" b="1" i="0">
                <a:solidFill>
                  <a:srgbClr val="B0563A"/>
                </a:solidFill>
                <a:latin typeface="Georgia"/>
              </a:rPr>
              <a:t>AI</a:t>
            </a:r>
            <a:r>
              <a:rPr sz="4000" b="1" i="0">
                <a:solidFill>
                  <a:srgbClr val="3E2C1E"/>
                </a:solidFill>
                <a:latin typeface="Georgia"/>
              </a:rPr>
              <a:t> screens résumés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8006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spc="340">
                <a:solidFill>
                  <a:srgbClr val="A9744F"/>
                </a:solidFill>
                <a:latin typeface="Calibri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263140" y="2496312"/>
            <a:ext cx="1600200" cy="204825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9172" y="2752344"/>
            <a:ext cx="800100" cy="112654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19172" y="3080064"/>
            <a:ext cx="1088136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19172" y="3325855"/>
            <a:ext cx="960120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9172" y="3571646"/>
            <a:ext cx="1056132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172" y="3817437"/>
            <a:ext cx="672084" cy="92171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251960" y="335584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96204" y="2720340"/>
            <a:ext cx="1600200" cy="1600200"/>
          </a:xfrm>
          <a:prstGeom prst="roundRect">
            <a:avLst>
              <a:gd name="adj" fmla="val 16000"/>
            </a:avLst>
          </a:prstGeom>
          <a:solidFill>
            <a:srgbClr val="FCF7EF"/>
          </a:solidFill>
          <a:ln w="2540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262" y="3184398"/>
            <a:ext cx="672084" cy="672084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A97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08256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08256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61788" y="3132391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38797" y="3132391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60300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60300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1788" y="3484435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38797" y="3484435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12344" y="2585923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12344" y="4262932"/>
            <a:ext cx="72009" cy="1920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61788" y="3836479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38797" y="3836479"/>
            <a:ext cx="192024" cy="72009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7040879" y="335584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91041" y="2743200"/>
            <a:ext cx="614476" cy="614476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8439911" y="3445459"/>
            <a:ext cx="1316736" cy="11704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9527" y="507492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AI screens your résumé before a human ever sees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1230283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46020" y="2631186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EEDFCB"/>
          </a:solidFill>
          <a:ln w="1524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5981" y="2743657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6020" y="3193541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DED3"/>
          </a:solidFill>
          <a:ln w="15240">
            <a:solidFill>
              <a:srgbClr val="B0563A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95981" y="3306013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6020" y="3755898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E7C8"/>
          </a:solidFill>
          <a:ln w="1524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95981" y="3868369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23459" y="3310127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0" y="2606039"/>
            <a:ext cx="1737360" cy="1737360"/>
          </a:xfrm>
          <a:prstGeom prst="roundRect">
            <a:avLst>
              <a:gd name="adj" fmla="val 16000"/>
            </a:avLst>
          </a:prstGeom>
          <a:solidFill>
            <a:srgbClr val="FCF7EF"/>
          </a:solidFill>
          <a:ln w="2540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87514" y="3109874"/>
            <a:ext cx="729691" cy="729691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6B4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31050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1050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7741" y="3053410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58495" y="3053410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13269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13269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7741" y="3435629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8495" y="3435629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5488" y="2460101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95488" y="4280855"/>
            <a:ext cx="78181" cy="208483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741" y="3817848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8495" y="3817848"/>
            <a:ext cx="208483" cy="7818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TRAINED ON HUMAN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LEARNS THE PATTERNS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803136"/>
            <a:ext cx="1479665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QUESTION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20040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60604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47007" y="298094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4700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007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548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4468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7775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316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767" y="1234440"/>
            <a:ext cx="1280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0">
                <a:solidFill>
                  <a:srgbClr val="B0563A"/>
                </a:solidFill>
                <a:latin typeface="Georgi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207" y="5440680"/>
            <a:ext cx="10241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Same résumé, different name — will the score change?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729047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131820" y="1889150"/>
            <a:ext cx="1691640" cy="2165299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2482" y="2159812"/>
            <a:ext cx="845820" cy="119091"/>
          </a:xfrm>
          <a:prstGeom prst="roundRect">
            <a:avLst>
              <a:gd name="adj" fmla="val 50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02482" y="2506260"/>
            <a:ext cx="1150315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2482" y="2766096"/>
            <a:ext cx="1014984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2482" y="3025932"/>
            <a:ext cx="1116482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482" y="3285768"/>
            <a:ext cx="710488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820" y="3253288"/>
            <a:ext cx="1691640" cy="73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246888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9B8571"/>
                </a:solidFill>
                <a:latin typeface="Georgia"/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5492" y="1889150"/>
            <a:ext cx="1691640" cy="2165299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6154" y="2159812"/>
            <a:ext cx="845820" cy="119091"/>
          </a:xfrm>
          <a:prstGeom prst="roundRect">
            <a:avLst>
              <a:gd name="adj" fmla="val 50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36154" y="2506260"/>
            <a:ext cx="1150315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6154" y="2766096"/>
            <a:ext cx="1014984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6154" y="3025932"/>
            <a:ext cx="1116482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36154" y="3285768"/>
            <a:ext cx="710488" cy="97438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5492" y="3253288"/>
            <a:ext cx="1691640" cy="73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" y="457200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Identical Japanese résumés — only the name differs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247" y="523036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 spc="260">
                <a:solidFill>
                  <a:srgbClr val="A9744F"/>
                </a:solidFill>
                <a:latin typeface="Calibri"/>
              </a:rPr>
              <a:t>FIVE AI MODELS SCORED EACH RÉSUMÉ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6083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363827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1843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ChatGPT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65195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02939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0955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Claude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04307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42051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0067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Gemini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3419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81163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9179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DeepSeek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2531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520275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8291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Llama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803136"/>
            <a:ext cx="1978429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68979" y="2745028"/>
            <a:ext cx="1783080" cy="2282342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54272" y="3030321"/>
            <a:ext cx="891540" cy="125528"/>
          </a:xfrm>
          <a:prstGeom prst="roundRect">
            <a:avLst>
              <a:gd name="adj" fmla="val 50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54272" y="3395496"/>
            <a:ext cx="1212494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54272" y="3669377"/>
            <a:ext cx="1069848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54272" y="3943258"/>
            <a:ext cx="1176832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54272" y="4217139"/>
            <a:ext cx="748893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8979" y="4182904"/>
            <a:ext cx="1783080" cy="7759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30352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6E8FC0"/>
                </a:solidFill>
                <a:latin typeface="Calibri"/>
              </a:rPr>
              <a:t>MALE NAME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6872" y="2212848"/>
            <a:ext cx="2048256" cy="2340864"/>
          </a:xfrm>
          <a:prstGeom prst="roundRect">
            <a:avLst>
              <a:gd name="adj" fmla="val 12000"/>
            </a:avLst>
          </a:prstGeom>
          <a:solidFill>
            <a:srgbClr val="F3DDE7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09460" y="2242108"/>
            <a:ext cx="1783080" cy="2282342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94752" y="2527401"/>
            <a:ext cx="891540" cy="125528"/>
          </a:xfrm>
          <a:prstGeom prst="roundRect">
            <a:avLst>
              <a:gd name="adj" fmla="val 50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4752" y="2892576"/>
            <a:ext cx="1212494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94752" y="3166457"/>
            <a:ext cx="1069848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94752" y="3440338"/>
            <a:ext cx="1176832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94752" y="3714219"/>
            <a:ext cx="748893" cy="10270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9460" y="3679984"/>
            <a:ext cx="1783080" cy="7759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1783080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D6749C"/>
                </a:solidFill>
                <a:latin typeface="Calibri"/>
              </a:rPr>
              <a:t>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4800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D6749C"/>
                </a:solidFill>
                <a:latin typeface="Calibri"/>
              </a:rPr>
              <a:t>FEMALE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887" y="562356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Female names scored </a:t>
            </a:r>
            <a:r>
              <a:rPr sz="2500" b="1" i="0">
                <a:solidFill>
                  <a:srgbClr val="D6749C"/>
                </a:solidFill>
                <a:latin typeface="Georgia"/>
              </a:rPr>
              <a:t>slightly higher</a:t>
            </a:r>
            <a:r>
              <a:rPr sz="2500" b="1" i="0">
                <a:solidFill>
                  <a:srgbClr val="3E2C1E"/>
                </a:solidFill>
                <a:latin typeface="Georgia"/>
              </a:rPr>
              <a:t> — same résumé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3136"/>
            <a:ext cx="2227810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FIX 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95447" y="2148840"/>
            <a:ext cx="6400800" cy="914400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95447" y="2148840"/>
            <a:ext cx="6400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3E2C1E"/>
                </a:solidFill>
                <a:latin typeface="Georgia"/>
              </a:rPr>
              <a:t>“Ignore the name and gender.”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2807" y="3703320"/>
            <a:ext cx="292608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0" b="1" i="0">
                <a:solidFill>
                  <a:srgbClr val="B0563A"/>
                </a:solidFill>
                <a:latin typeface="Calibri"/>
              </a:rP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530352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Barely changed — the bias remained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2477192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E932E"/>
                </a:solidFill>
                <a:latin typeface="Calibri"/>
              </a:rPr>
              <a:t>FIX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E93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798167" y="2286000"/>
            <a:ext cx="3200400" cy="914400"/>
          </a:xfrm>
          <a:prstGeom prst="roundRect">
            <a:avLst>
              <a:gd name="adj" fmla="val 28000"/>
            </a:avLst>
          </a:prstGeom>
          <a:solidFill>
            <a:srgbClr val="F1DED3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98167" y="2286000"/>
            <a:ext cx="3200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B0563A"/>
                </a:solidFill>
                <a:latin typeface="Calibri"/>
              </a:rPr>
              <a:t>Haruto Sato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38647" y="257860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93127" y="2286000"/>
            <a:ext cx="3200400" cy="914400"/>
          </a:xfrm>
          <a:prstGeom prst="roundRect">
            <a:avLst>
              <a:gd name="adj" fmla="val 28000"/>
            </a:avLst>
          </a:prstGeom>
          <a:solidFill>
            <a:srgbClr val="F1E7C8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93127" y="2286000"/>
            <a:ext cx="3200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6B4A34"/>
                </a:solidFill>
                <a:latin typeface="Consolas"/>
              </a:rPr>
              <a:t>[PRIVATE_PERSON]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3794760"/>
            <a:ext cx="29260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0" b="1" i="0">
                <a:solidFill>
                  <a:srgbClr val="BE932E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34924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Remove the name → the difference almost disappears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2726574" cy="54864"/>
          </a:xfrm>
          <a:prstGeom prst="rect">
            <a:avLst/>
          </a:prstGeom>
          <a:solidFill>
            <a:srgbClr val="BE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FE1D3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01752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42316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">
            <a:off x="3947007" y="279806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73463" y="2544207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06535" y="3412887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1943" y="2544207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18231" y="3216512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51303" y="4085192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6711" y="321651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" y="5486400"/>
            <a:ext cx="10789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300" b="1" i="0">
                <a:solidFill>
                  <a:srgbClr val="3E2C1E"/>
                </a:solidFill>
                <a:latin typeface="Georgia"/>
              </a:rPr>
              <a:t>Fairness training may over-correct — tipping slightly toward women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2975956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00887" y="2286000"/>
            <a:ext cx="107899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>AI may decide who gets an interview</a:t>
            </a:r>
          </a:p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/>
            </a:r>
            <a:r>
              <a:rPr sz="3300" b="1" i="0">
                <a:solidFill>
                  <a:srgbClr val="B0563A"/>
                </a:solidFill>
                <a:latin typeface="Georgia"/>
              </a:rPr>
              <a:t>before a human ever sees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647" y="489204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1">
                <a:solidFill>
                  <a:srgbClr val="A9744F"/>
                </a:solidFill>
                <a:latin typeface="Georgia"/>
              </a:rPr>
              <a:t>Test it carefully before we trust it with a career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225338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0" i="0">
                <a:solidFill>
                  <a:srgbClr val="D6749C"/>
                </a:solidFill>
                <a:latin typeface="Calibri"/>
              </a:rPr>
              <a:t>♀</a:t>
            </a:r>
            <a:r>
              <a:rPr sz="5800" b="0" i="0">
                <a:solidFill>
                  <a:srgbClr val="3E2C1E"/>
                </a:solidFill>
                <a:latin typeface="Calibri"/>
              </a:rPr>
              <a:t>    </a:t>
            </a:r>
            <a:r>
              <a:rPr sz="58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49039"/>
            <a:ext cx="9144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3E2C1E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80060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spc="160">
                <a:solidFill>
                  <a:srgbClr val="A9744F"/>
                </a:solidFill>
                <a:latin typeface="Calibri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