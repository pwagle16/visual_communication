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5EDDF"/>
              </a:gs>
              <a:gs pos="100000">
                <a:srgbClr val="E7D3B8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60119" y="1965960"/>
            <a:ext cx="1828800" cy="2377440"/>
          </a:xfrm>
          <a:prstGeom prst="roundRect">
            <a:avLst>
              <a:gd name="adj" fmla="val 9000"/>
            </a:avLst>
          </a:prstGeom>
          <a:solidFill>
            <a:srgbClr val="FCF7EF"/>
          </a:solidFill>
          <a:ln w="1651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929384" y="2240280"/>
            <a:ext cx="585216" cy="655441"/>
          </a:xfrm>
          <a:prstGeom prst="roundRect">
            <a:avLst>
              <a:gd name="adj" fmla="val 12000"/>
            </a:avLst>
          </a:prstGeom>
          <a:solidFill>
            <a:srgbClr val="E96C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104948" y="2322210"/>
            <a:ext cx="234086" cy="234086"/>
          </a:xfrm>
          <a:prstGeom prst="ellipse">
            <a:avLst/>
          </a:prstGeom>
          <a:solidFill>
            <a:srgbClr val="FC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 Same Side Corner Rectangle 5"/>
          <p:cNvSpPr/>
          <p:nvPr/>
        </p:nvSpPr>
        <p:spPr>
          <a:xfrm>
            <a:off x="2023018" y="2579705"/>
            <a:ext cx="397946" cy="198973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C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34439" y="2267712"/>
            <a:ext cx="731520" cy="142646"/>
          </a:xfrm>
          <a:prstGeom prst="roundRect">
            <a:avLst>
              <a:gd name="adj" fmla="val 50000"/>
            </a:avLst>
          </a:prstGeom>
          <a:solidFill>
            <a:srgbClr val="E96C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234439" y="2596896"/>
            <a:ext cx="585216" cy="106984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234439" y="3035808"/>
            <a:ext cx="1316736" cy="106984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34439" y="3321100"/>
            <a:ext cx="1170432" cy="106984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34439" y="3606393"/>
            <a:ext cx="1243584" cy="106984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19" y="3772814"/>
            <a:ext cx="1828800" cy="6181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176" b="0" i="0">
                <a:solidFill>
                  <a:srgbClr val="E96CA4"/>
                </a:solidFill>
                <a:latin typeface="Calibri"/>
              </a:rPr>
              <a:t>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00032" y="1965960"/>
            <a:ext cx="1828800" cy="2377440"/>
          </a:xfrm>
          <a:prstGeom prst="roundRect">
            <a:avLst>
              <a:gd name="adj" fmla="val 9000"/>
            </a:avLst>
          </a:prstGeom>
          <a:solidFill>
            <a:srgbClr val="FCF7EF"/>
          </a:solidFill>
          <a:ln w="1651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369295" y="2240280"/>
            <a:ext cx="585216" cy="655441"/>
          </a:xfrm>
          <a:prstGeom prst="roundRect">
            <a:avLst>
              <a:gd name="adj" fmla="val 12000"/>
            </a:avLst>
          </a:prstGeom>
          <a:solidFill>
            <a:srgbClr val="5A9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544860" y="2322210"/>
            <a:ext cx="234086" cy="234086"/>
          </a:xfrm>
          <a:prstGeom prst="ellipse">
            <a:avLst/>
          </a:prstGeom>
          <a:solidFill>
            <a:srgbClr val="FC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10462930" y="2579705"/>
            <a:ext cx="397946" cy="198973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C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74352" y="2267712"/>
            <a:ext cx="731520" cy="142646"/>
          </a:xfrm>
          <a:prstGeom prst="roundRect">
            <a:avLst>
              <a:gd name="adj" fmla="val 50000"/>
            </a:avLst>
          </a:prstGeom>
          <a:solidFill>
            <a:srgbClr val="5A9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74352" y="2596896"/>
            <a:ext cx="585216" cy="106984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674352" y="3035808"/>
            <a:ext cx="1316736" cy="106984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74352" y="3321100"/>
            <a:ext cx="1170432" cy="106984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674352" y="3606393"/>
            <a:ext cx="1243584" cy="106984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0032" y="3772814"/>
            <a:ext cx="1828800" cy="6181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176" b="0" i="0">
                <a:solidFill>
                  <a:srgbClr val="5A93DE"/>
                </a:solidFill>
                <a:latin typeface="Calibri"/>
              </a:rPr>
              <a:t>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95447" y="1874519"/>
            <a:ext cx="6400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3944" b="1" i="0">
                <a:solidFill>
                  <a:srgbClr val="3E2C1E"/>
                </a:solidFill>
                <a:latin typeface="Georgia"/>
              </a:rPr>
              <a:t>Gender bias when </a:t>
            </a:r>
            <a:r>
              <a:rPr sz="3944" b="1" i="0">
                <a:solidFill>
                  <a:srgbClr val="CE5A38"/>
                </a:solidFill>
                <a:latin typeface="Georgia"/>
              </a:rPr>
              <a:t>AI</a:t>
            </a:r>
            <a:r>
              <a:rPr sz="3944" b="1" i="0">
                <a:solidFill>
                  <a:srgbClr val="3E2C1E"/>
                </a:solidFill>
                <a:latin typeface="Georgia"/>
              </a:rPr>
              <a:t/>
            </a:r>
          </a:p>
          <a:p>
            <a:pPr algn="ctr">
              <a:lnSpc>
                <a:spcPct val="104000"/>
              </a:lnSpc>
            </a:pPr>
            <a:r>
              <a:rPr sz="3944" b="1" i="0">
                <a:solidFill>
                  <a:srgbClr val="3E2C1E"/>
                </a:solidFill>
                <a:latin typeface="Georgia"/>
              </a:rPr>
              <a:t>screens resumes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04007" y="3749039"/>
            <a:ext cx="65836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91" b="1" i="0" spc="300">
                <a:solidFill>
                  <a:srgbClr val="C18150"/>
                </a:solidFill>
                <a:latin typeface="Calibri"/>
              </a:rPr>
              <a:t>BASED ON THE STUDY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12567" y="4114800"/>
            <a:ext cx="676656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507" b="0" i="1">
                <a:solidFill>
                  <a:srgbClr val="3E2C1E"/>
                </a:solidFill>
                <a:latin typeface="Georgia"/>
              </a:rPr>
              <a:t>“Gender Bias in LLM Hiring Decisions: Evidence from a Japanese Context and Evaluation of Mitigation Strategies”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38247" y="5715000"/>
            <a:ext cx="7315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23" b="1" i="0" spc="300">
                <a:solidFill>
                  <a:srgbClr val="C18150"/>
                </a:solidFill>
                <a:latin typeface="Calibri"/>
              </a:rPr>
              <a:t>JAPANESE HIRING   ·   5 MODELS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5EDDF"/>
              </a:gs>
              <a:gs pos="100000">
                <a:srgbClr val="E7D3B8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30352"/>
            <a:ext cx="73152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55" b="1" i="0" spc="420">
                <a:solidFill>
                  <a:srgbClr val="C18150"/>
                </a:solidFill>
                <a:latin typeface="Calibri"/>
              </a:rPr>
              <a:t>THE SETUP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30087" y="1024128"/>
            <a:ext cx="731520" cy="0"/>
          </a:xfrm>
          <a:prstGeom prst="bentConnector3">
            <a:avLst/>
          </a:prstGeom>
          <a:ln w="30480">
            <a:solidFill>
              <a:srgbClr val="C181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2226564" y="2606040"/>
            <a:ext cx="576072" cy="576072"/>
          </a:xfrm>
          <a:prstGeom prst="ellipse">
            <a:avLst/>
          </a:prstGeom>
          <a:solidFill>
            <a:srgbClr val="C18150"/>
          </a:solidFill>
          <a:ln>
            <a:noFill/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 Same Side Corner Rectangle 5"/>
          <p:cNvSpPr/>
          <p:nvPr/>
        </p:nvSpPr>
        <p:spPr>
          <a:xfrm>
            <a:off x="1897380" y="3264408"/>
            <a:ext cx="1234440" cy="10972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18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Arrow 6"/>
          <p:cNvSpPr/>
          <p:nvPr/>
        </p:nvSpPr>
        <p:spPr>
          <a:xfrm>
            <a:off x="3611880" y="3218688"/>
            <a:ext cx="822960" cy="329184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9B85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953304" y="2564892"/>
            <a:ext cx="2286000" cy="1417320"/>
          </a:xfrm>
          <a:prstGeom prst="roundRect">
            <a:avLst>
              <a:gd name="adj" fmla="val 8000"/>
            </a:avLst>
          </a:prstGeom>
          <a:solidFill>
            <a:srgbClr val="FCF7EF"/>
          </a:solidFill>
          <a:ln w="25400">
            <a:solidFill>
              <a:srgbClr val="6B4A34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181904" y="2793492"/>
            <a:ext cx="453542" cy="453542"/>
          </a:xfrm>
          <a:prstGeom prst="ellipse">
            <a:avLst/>
          </a:prstGeom>
          <a:solidFill>
            <a:srgbClr val="C18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777179" y="2793492"/>
            <a:ext cx="1051560" cy="85039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777179" y="2977743"/>
            <a:ext cx="1280160" cy="85039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777179" y="3161995"/>
            <a:ext cx="914400" cy="85039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81904" y="3386937"/>
            <a:ext cx="1600200" cy="85039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81904" y="3599535"/>
            <a:ext cx="1371600" cy="85039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678984" y="4000500"/>
            <a:ext cx="2834640" cy="128016"/>
          </a:xfrm>
          <a:prstGeom prst="roundRect">
            <a:avLst>
              <a:gd name="adj" fmla="val 5000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214" y="3262122"/>
            <a:ext cx="685800" cy="685800"/>
          </a:xfrm>
          <a:prstGeom prst="ellipse">
            <a:avLst/>
          </a:prstGeom>
          <a:solidFill>
            <a:srgbClr val="FCF7EF"/>
          </a:solidFill>
          <a:ln w="38100">
            <a:solidFill>
              <a:srgbClr val="CE5A38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7081570" y="3824478"/>
            <a:ext cx="274320" cy="274320"/>
          </a:xfrm>
          <a:prstGeom prst="bentConnector3">
            <a:avLst/>
          </a:prstGeom>
          <a:ln w="40640">
            <a:solidFill>
              <a:srgbClr val="CE5A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ight Arrow 17"/>
          <p:cNvSpPr/>
          <p:nvPr/>
        </p:nvSpPr>
        <p:spPr>
          <a:xfrm>
            <a:off x="7772400" y="3218688"/>
            <a:ext cx="822960" cy="329184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9B85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404604" y="2606040"/>
            <a:ext cx="576072" cy="576072"/>
          </a:xfrm>
          <a:prstGeom prst="ellipse">
            <a:avLst/>
          </a:prstGeom>
          <a:solidFill>
            <a:srgbClr val="6B4A34"/>
          </a:solidFill>
          <a:ln>
            <a:noFill/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9075419" y="3264408"/>
            <a:ext cx="1234440" cy="10972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4440" y="4297680"/>
            <a:ext cx="256032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23" b="1" i="0" spc="240">
                <a:solidFill>
                  <a:srgbClr val="C18150"/>
                </a:solidFill>
                <a:latin typeface="Calibri"/>
              </a:rPr>
              <a:t>YOU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0384" y="4617720"/>
            <a:ext cx="3291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23" b="1" i="0" spc="240">
                <a:solidFill>
                  <a:srgbClr val="CE5A38"/>
                </a:solidFill>
                <a:latin typeface="Calibri"/>
              </a:rPr>
              <a:t>AI SCREENS FIRST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4297680"/>
            <a:ext cx="256032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23" b="1" i="0" spc="240">
                <a:solidFill>
                  <a:srgbClr val="6B4A34"/>
                </a:solidFill>
                <a:latin typeface="Calibri"/>
              </a:rPr>
              <a:t>RECRUITER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127" y="5166360"/>
            <a:ext cx="115214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15" b="1" i="0">
                <a:solidFill>
                  <a:srgbClr val="3E2C1E"/>
                </a:solidFill>
                <a:latin typeface="Georgia"/>
              </a:rPr>
              <a:t>AI screens your resume before a human ever sees 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803136"/>
            <a:ext cx="1280160" cy="54864"/>
          </a:xfrm>
          <a:prstGeom prst="rect">
            <a:avLst/>
          </a:prstGeom>
          <a:solidFill>
            <a:srgbClr val="C18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4869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76" b="0" i="0">
                <a:solidFill>
                  <a:srgbClr val="9B8571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5EDDF"/>
              </a:gs>
              <a:gs pos="100000">
                <a:srgbClr val="E7D3B8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30352"/>
            <a:ext cx="73152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55" b="1" i="0" spc="420">
                <a:solidFill>
                  <a:srgbClr val="C18150"/>
                </a:solidFill>
                <a:latin typeface="Calibri"/>
              </a:rPr>
              <a:t>WHAT IS AN LLM?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30087" y="1024128"/>
            <a:ext cx="731520" cy="0"/>
          </a:xfrm>
          <a:prstGeom prst="bentConnector3">
            <a:avLst/>
          </a:prstGeom>
          <a:ln w="30480">
            <a:solidFill>
              <a:srgbClr val="C181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446020" y="2631186"/>
            <a:ext cx="1874519" cy="374904"/>
          </a:xfrm>
          <a:prstGeom prst="roundRect">
            <a:avLst>
              <a:gd name="adj" fmla="val 40000"/>
            </a:avLst>
          </a:prstGeom>
          <a:solidFill>
            <a:srgbClr val="EEDFCB"/>
          </a:solidFill>
          <a:ln w="15240">
            <a:solidFill>
              <a:srgbClr val="C1815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5981" y="2743657"/>
            <a:ext cx="299923" cy="149961"/>
          </a:xfrm>
          <a:prstGeom prst="roundRect">
            <a:avLst>
              <a:gd name="adj" fmla="val 50000"/>
            </a:avLst>
          </a:prstGeom>
          <a:solidFill>
            <a:srgbClr val="C18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446020" y="3193541"/>
            <a:ext cx="1874519" cy="374904"/>
          </a:xfrm>
          <a:prstGeom prst="roundRect">
            <a:avLst>
              <a:gd name="adj" fmla="val 40000"/>
            </a:avLst>
          </a:prstGeom>
          <a:solidFill>
            <a:srgbClr val="F1DED3"/>
          </a:solidFill>
          <a:ln w="15240">
            <a:solidFill>
              <a:srgbClr val="CE5A38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595981" y="3306013"/>
            <a:ext cx="299923" cy="149961"/>
          </a:xfrm>
          <a:prstGeom prst="roundRect">
            <a:avLst>
              <a:gd name="adj" fmla="val 50000"/>
            </a:avLst>
          </a:prstGeom>
          <a:solidFill>
            <a:srgbClr val="CE5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446020" y="3755898"/>
            <a:ext cx="1874519" cy="374904"/>
          </a:xfrm>
          <a:prstGeom prst="roundRect">
            <a:avLst>
              <a:gd name="adj" fmla="val 40000"/>
            </a:avLst>
          </a:prstGeom>
          <a:solidFill>
            <a:srgbClr val="F1E7C8"/>
          </a:solidFill>
          <a:ln w="15240">
            <a:solidFill>
              <a:srgbClr val="6B4A34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95981" y="3868369"/>
            <a:ext cx="299923" cy="149961"/>
          </a:xfrm>
          <a:prstGeom prst="roundRect">
            <a:avLst>
              <a:gd name="adj" fmla="val 5000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4823459" y="3310127"/>
            <a:ext cx="960120" cy="329184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9B85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7452360" y="2542946"/>
            <a:ext cx="0" cy="237744"/>
          </a:xfrm>
          <a:prstGeom prst="bentConnector3">
            <a:avLst/>
          </a:prstGeom>
          <a:ln w="27940">
            <a:solidFill>
              <a:srgbClr val="6B4A3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7370064" y="2396642"/>
            <a:ext cx="164592" cy="164592"/>
          </a:xfrm>
          <a:prstGeom prst="ellipse">
            <a:avLst/>
          </a:prstGeom>
          <a:solidFill>
            <a:srgbClr val="CE5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0" y="2780690"/>
            <a:ext cx="1737360" cy="1424635"/>
          </a:xfrm>
          <a:prstGeom prst="roundRect">
            <a:avLst>
              <a:gd name="adj" fmla="val 20000"/>
            </a:avLst>
          </a:prstGeom>
          <a:solidFill>
            <a:srgbClr val="FCF7EF"/>
          </a:solidFill>
          <a:ln w="27940">
            <a:solidFill>
              <a:srgbClr val="C1815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939838" y="3407529"/>
            <a:ext cx="260603" cy="260603"/>
          </a:xfrm>
          <a:prstGeom prst="ellipse">
            <a:avLst/>
          </a:prstGeom>
          <a:solidFill>
            <a:srgbClr val="C18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704277" y="3407529"/>
            <a:ext cx="260603" cy="260603"/>
          </a:xfrm>
          <a:prstGeom prst="ellipse">
            <a:avLst/>
          </a:prstGeom>
          <a:solidFill>
            <a:srgbClr val="C18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104888" y="3777935"/>
            <a:ext cx="694944" cy="99724"/>
          </a:xfrm>
          <a:prstGeom prst="roundRect">
            <a:avLst>
              <a:gd name="adj" fmla="val 50000"/>
            </a:avLst>
          </a:prstGeom>
          <a:solidFill>
            <a:srgbClr val="C18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0" y="5029200"/>
            <a:ext cx="3108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7" b="1" i="0" spc="140">
                <a:solidFill>
                  <a:srgbClr val="5A4433"/>
                </a:solidFill>
                <a:latin typeface="Calibri"/>
              </a:rPr>
              <a:t>TRAINED ON HUMAN TEXT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80" y="5029200"/>
            <a:ext cx="3108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7" b="1" i="0" spc="140">
                <a:solidFill>
                  <a:srgbClr val="5A4433"/>
                </a:solidFill>
                <a:latin typeface="Calibri"/>
              </a:rPr>
              <a:t>LEARNS THE PATTERNS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803136"/>
            <a:ext cx="1554480" cy="54864"/>
          </a:xfrm>
          <a:prstGeom prst="rect">
            <a:avLst/>
          </a:prstGeom>
          <a:solidFill>
            <a:srgbClr val="C18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4869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76" b="0" i="0">
                <a:solidFill>
                  <a:srgbClr val="9B8571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5EDDF"/>
              </a:gs>
              <a:gs pos="100000">
                <a:srgbClr val="EFE1D3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30352"/>
            <a:ext cx="73152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55" b="1" i="0" spc="420">
                <a:solidFill>
                  <a:srgbClr val="CE5A38"/>
                </a:solidFill>
                <a:latin typeface="Calibri"/>
              </a:rPr>
              <a:t>THE CHALLENGE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30087" y="1024128"/>
            <a:ext cx="731520" cy="0"/>
          </a:xfrm>
          <a:prstGeom prst="bentConnector3">
            <a:avLst/>
          </a:prstGeom>
          <a:ln w="30480">
            <a:solidFill>
              <a:srgbClr val="CE5A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Isosceles Triangle 4"/>
          <p:cNvSpPr/>
          <p:nvPr/>
        </p:nvSpPr>
        <p:spPr>
          <a:xfrm>
            <a:off x="5592927" y="3200400"/>
            <a:ext cx="1005840" cy="868680"/>
          </a:xfrm>
          <a:prstGeom prst="triangle">
            <a:avLst/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13551" y="2606040"/>
            <a:ext cx="164592" cy="685800"/>
          </a:xfrm>
          <a:prstGeom prst="roundRect">
            <a:avLst>
              <a:gd name="adj" fmla="val 5000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947007" y="2980944"/>
            <a:ext cx="4297680" cy="164592"/>
          </a:xfrm>
          <a:prstGeom prst="roundRect">
            <a:avLst>
              <a:gd name="adj" fmla="val 50000"/>
            </a:avLst>
          </a:prstGeom>
          <a:solidFill>
            <a:srgbClr val="C18150"/>
          </a:solidFill>
          <a:ln>
            <a:noFill/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3947007" y="3063240"/>
            <a:ext cx="0" cy="868680"/>
          </a:xfrm>
          <a:prstGeom prst="bentConnector3">
            <a:avLst/>
          </a:prstGeom>
          <a:ln w="20320">
            <a:solidFill>
              <a:srgbClr val="6B4A3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380079" y="3931920"/>
            <a:ext cx="1133856" cy="109728"/>
          </a:xfrm>
          <a:prstGeom prst="roundRect">
            <a:avLst>
              <a:gd name="adj" fmla="val 50000"/>
            </a:avLst>
          </a:prstGeom>
          <a:solidFill>
            <a:srgbClr val="CDA07E"/>
          </a:solidFill>
          <a:ln>
            <a:noFill/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15487" y="3063239"/>
            <a:ext cx="1463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567" b="1" i="0">
                <a:solidFill>
                  <a:srgbClr val="5A93DE"/>
                </a:solidFill>
                <a:latin typeface="Calibri"/>
              </a:rPr>
              <a:t>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44687" y="3063240"/>
            <a:ext cx="0" cy="868680"/>
          </a:xfrm>
          <a:prstGeom prst="bentConnector3">
            <a:avLst/>
          </a:prstGeom>
          <a:ln w="20320">
            <a:solidFill>
              <a:srgbClr val="6B4A3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677759" y="3931920"/>
            <a:ext cx="1133856" cy="109728"/>
          </a:xfrm>
          <a:prstGeom prst="roundRect">
            <a:avLst>
              <a:gd name="adj" fmla="val 50000"/>
            </a:avLst>
          </a:prstGeom>
          <a:solidFill>
            <a:srgbClr val="CDA07E"/>
          </a:solidFill>
          <a:ln>
            <a:noFill/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13167" y="3063239"/>
            <a:ext cx="1463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567" b="1" i="0">
                <a:solidFill>
                  <a:srgbClr val="E96CA4"/>
                </a:solidFill>
                <a:latin typeface="Calibri"/>
              </a:rPr>
              <a:t>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55767" y="1234440"/>
            <a:ext cx="12801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655" b="1" i="0">
                <a:solidFill>
                  <a:srgbClr val="CE5A38"/>
                </a:solidFill>
                <a:latin typeface="Georgia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127" y="5394960"/>
            <a:ext cx="115214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15" b="1" i="0">
                <a:solidFill>
                  <a:srgbClr val="3E2C1E"/>
                </a:solidFill>
                <a:latin typeface="Georgia"/>
              </a:rPr>
              <a:t>If AI learns from people, could it learn our bias?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803136"/>
            <a:ext cx="1828800" cy="54864"/>
          </a:xfrm>
          <a:prstGeom prst="rect">
            <a:avLst/>
          </a:prstGeom>
          <a:solidFill>
            <a:srgbClr val="CE5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4869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76" b="0" i="0">
                <a:solidFill>
                  <a:srgbClr val="9B8571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5EDDF"/>
              </a:gs>
              <a:gs pos="100000">
                <a:srgbClr val="E7D3B8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30352"/>
            <a:ext cx="73152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55" b="1" i="0" spc="420">
                <a:solidFill>
                  <a:srgbClr val="C18150"/>
                </a:solidFill>
                <a:latin typeface="Calibri"/>
              </a:rPr>
              <a:t>THE TEST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30087" y="1024128"/>
            <a:ext cx="731520" cy="0"/>
          </a:xfrm>
          <a:prstGeom prst="bentConnector3">
            <a:avLst/>
          </a:prstGeom>
          <a:ln w="30480">
            <a:solidFill>
              <a:srgbClr val="C181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145535" y="1798624"/>
            <a:ext cx="1664208" cy="2163470"/>
          </a:xfrm>
          <a:prstGeom prst="roundRect">
            <a:avLst>
              <a:gd name="adj" fmla="val 9000"/>
            </a:avLst>
          </a:prstGeom>
          <a:solidFill>
            <a:srgbClr val="FCF7EF"/>
          </a:solidFill>
          <a:ln w="1651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027566" y="2048255"/>
            <a:ext cx="532546" cy="596452"/>
          </a:xfrm>
          <a:prstGeom prst="roundRect">
            <a:avLst>
              <a:gd name="adj" fmla="val 12000"/>
            </a:avLst>
          </a:prstGeom>
          <a:solidFill>
            <a:srgbClr val="E96C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187330" y="2122812"/>
            <a:ext cx="213018" cy="213018"/>
          </a:xfrm>
          <a:prstGeom prst="ellipse">
            <a:avLst/>
          </a:prstGeom>
          <a:solidFill>
            <a:srgbClr val="FC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 Same Side Corner Rectangle 7"/>
          <p:cNvSpPr/>
          <p:nvPr/>
        </p:nvSpPr>
        <p:spPr>
          <a:xfrm>
            <a:off x="4112773" y="2357133"/>
            <a:ext cx="362131" cy="181065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C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95167" y="2075687"/>
            <a:ext cx="665683" cy="129808"/>
          </a:xfrm>
          <a:prstGeom prst="roundRect">
            <a:avLst>
              <a:gd name="adj" fmla="val 50000"/>
            </a:avLst>
          </a:prstGeom>
          <a:solidFill>
            <a:srgbClr val="E96C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395167" y="2372776"/>
            <a:ext cx="532546" cy="97356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95167" y="2772186"/>
            <a:ext cx="1198229" cy="97356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95167" y="3031802"/>
            <a:ext cx="1065093" cy="97356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395167" y="3291419"/>
            <a:ext cx="1131661" cy="97356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45535" y="3442862"/>
            <a:ext cx="1664208" cy="5625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711" b="0" i="0">
                <a:solidFill>
                  <a:srgbClr val="E96CA4"/>
                </a:solidFill>
                <a:latin typeface="Calibri"/>
              </a:rPr>
              <a:t>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81447" y="2377440"/>
            <a:ext cx="18288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567" b="1" i="0">
                <a:solidFill>
                  <a:srgbClr val="9B8571"/>
                </a:solidFill>
                <a:latin typeface="Georgia"/>
              </a:rPr>
              <a:t>=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79208" y="1798624"/>
            <a:ext cx="1664208" cy="2163470"/>
          </a:xfrm>
          <a:prstGeom prst="roundRect">
            <a:avLst>
              <a:gd name="adj" fmla="val 9000"/>
            </a:avLst>
          </a:prstGeom>
          <a:solidFill>
            <a:srgbClr val="FCF7EF"/>
          </a:solidFill>
          <a:ln w="1651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61238" y="2048255"/>
            <a:ext cx="532546" cy="596452"/>
          </a:xfrm>
          <a:prstGeom prst="roundRect">
            <a:avLst>
              <a:gd name="adj" fmla="val 12000"/>
            </a:avLst>
          </a:prstGeom>
          <a:solidFill>
            <a:srgbClr val="5A9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21002" y="2122812"/>
            <a:ext cx="213018" cy="213018"/>
          </a:xfrm>
          <a:prstGeom prst="ellipse">
            <a:avLst/>
          </a:prstGeom>
          <a:solidFill>
            <a:srgbClr val="FC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 Same Side Corner Rectangle 18"/>
          <p:cNvSpPr/>
          <p:nvPr/>
        </p:nvSpPr>
        <p:spPr>
          <a:xfrm>
            <a:off x="8346445" y="2357133"/>
            <a:ext cx="362131" cy="181065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C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628839" y="2075687"/>
            <a:ext cx="665683" cy="129808"/>
          </a:xfrm>
          <a:prstGeom prst="roundRect">
            <a:avLst>
              <a:gd name="adj" fmla="val 50000"/>
            </a:avLst>
          </a:prstGeom>
          <a:solidFill>
            <a:srgbClr val="5A9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28839" y="2372776"/>
            <a:ext cx="532546" cy="97356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628839" y="2772186"/>
            <a:ext cx="1198229" cy="97356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628839" y="3031802"/>
            <a:ext cx="1065093" cy="97356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628839" y="3291419"/>
            <a:ext cx="1131661" cy="97356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9208" y="3442862"/>
            <a:ext cx="1664208" cy="5625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711" b="0" i="0">
                <a:solidFill>
                  <a:srgbClr val="5A93DE"/>
                </a:solidFill>
                <a:latin typeface="Calibri"/>
              </a:rPr>
              <a:t>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5127" y="4572000"/>
            <a:ext cx="11521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15" b="1" i="0">
                <a:solidFill>
                  <a:srgbClr val="3E2C1E"/>
                </a:solidFill>
                <a:latin typeface="Georgia"/>
              </a:rPr>
              <a:t>Identical Japanese resumes — only the name differs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38247" y="523036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34" b="1" i="0" spc="260">
                <a:solidFill>
                  <a:srgbClr val="C18150"/>
                </a:solidFill>
                <a:latin typeface="Calibri"/>
              </a:rPr>
              <a:t>FIVE AI MODELS SCORED EACH RESUME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26083" y="5650992"/>
            <a:ext cx="1783080" cy="658368"/>
          </a:xfrm>
          <a:prstGeom prst="roundRect">
            <a:avLst>
              <a:gd name="adj" fmla="val 50000"/>
            </a:avLst>
          </a:prstGeom>
          <a:solidFill>
            <a:srgbClr val="FCF7EF"/>
          </a:solidFill>
          <a:ln w="1524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63827" y="5916168"/>
            <a:ext cx="137160" cy="137160"/>
          </a:xfrm>
          <a:prstGeom prst="ellipse">
            <a:avLst/>
          </a:prstGeom>
          <a:solidFill>
            <a:srgbClr val="CE5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91843" y="5650992"/>
            <a:ext cx="1325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6B4A34"/>
                </a:solidFill>
                <a:latin typeface="Calibri"/>
              </a:rPr>
              <a:t>ChatGPT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5195" y="5650992"/>
            <a:ext cx="1783080" cy="658368"/>
          </a:xfrm>
          <a:prstGeom prst="roundRect">
            <a:avLst>
              <a:gd name="adj" fmla="val 50000"/>
            </a:avLst>
          </a:prstGeom>
          <a:solidFill>
            <a:srgbClr val="FCF7EF"/>
          </a:solidFill>
          <a:ln w="1524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402939" y="5916168"/>
            <a:ext cx="137160" cy="137160"/>
          </a:xfrm>
          <a:prstGeom prst="ellipse">
            <a:avLst/>
          </a:prstGeom>
          <a:solidFill>
            <a:srgbClr val="C18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0955" y="5650992"/>
            <a:ext cx="1325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6B4A34"/>
                </a:solidFill>
                <a:latin typeface="Calibri"/>
              </a:rPr>
              <a:t>Claude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204307" y="5650992"/>
            <a:ext cx="1783080" cy="658368"/>
          </a:xfrm>
          <a:prstGeom prst="roundRect">
            <a:avLst>
              <a:gd name="adj" fmla="val 50000"/>
            </a:avLst>
          </a:prstGeom>
          <a:solidFill>
            <a:srgbClr val="FCF7EF"/>
          </a:solidFill>
          <a:ln w="1524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442051" y="5916168"/>
            <a:ext cx="137160" cy="137160"/>
          </a:xfrm>
          <a:prstGeom prst="ellipse">
            <a:avLst/>
          </a:prstGeom>
          <a:solidFill>
            <a:srgbClr val="CE5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570067" y="5650992"/>
            <a:ext cx="1325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6B4A34"/>
                </a:solidFill>
                <a:latin typeface="Calibri"/>
              </a:rPr>
              <a:t>Gemini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243419" y="5650992"/>
            <a:ext cx="1783080" cy="658368"/>
          </a:xfrm>
          <a:prstGeom prst="roundRect">
            <a:avLst>
              <a:gd name="adj" fmla="val 50000"/>
            </a:avLst>
          </a:prstGeom>
          <a:solidFill>
            <a:srgbClr val="FCF7EF"/>
          </a:solidFill>
          <a:ln w="1524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481163" y="5916168"/>
            <a:ext cx="137160" cy="137160"/>
          </a:xfrm>
          <a:prstGeom prst="ellipse">
            <a:avLst/>
          </a:prstGeom>
          <a:solidFill>
            <a:srgbClr val="C18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09179" y="5650992"/>
            <a:ext cx="1325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6B4A34"/>
                </a:solidFill>
                <a:latin typeface="Calibri"/>
              </a:rPr>
              <a:t>DeepSeek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282531" y="5650992"/>
            <a:ext cx="1783080" cy="658368"/>
          </a:xfrm>
          <a:prstGeom prst="roundRect">
            <a:avLst>
              <a:gd name="adj" fmla="val 50000"/>
            </a:avLst>
          </a:prstGeom>
          <a:solidFill>
            <a:srgbClr val="FCF7EF"/>
          </a:solidFill>
          <a:ln w="1524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520275" y="5916168"/>
            <a:ext cx="137160" cy="137160"/>
          </a:xfrm>
          <a:prstGeom prst="ellipse">
            <a:avLst/>
          </a:prstGeom>
          <a:solidFill>
            <a:srgbClr val="CE5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48291" y="5650992"/>
            <a:ext cx="1325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6B4A34"/>
                </a:solidFill>
                <a:latin typeface="Calibri"/>
              </a:rPr>
              <a:t>Llama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803136"/>
            <a:ext cx="2103120" cy="54864"/>
          </a:xfrm>
          <a:prstGeom prst="rect">
            <a:avLst/>
          </a:prstGeom>
          <a:solidFill>
            <a:srgbClr val="C18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04869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76" b="0" i="0">
                <a:solidFill>
                  <a:srgbClr val="9B8571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5EDDF"/>
              </a:gs>
              <a:gs pos="100000">
                <a:srgbClr val="E7D3B8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30352"/>
            <a:ext cx="73152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55" b="1" i="0" spc="420">
                <a:solidFill>
                  <a:srgbClr val="CE5A38"/>
                </a:solidFill>
                <a:latin typeface="Calibri"/>
              </a:rPr>
              <a:t>THE RESULT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30087" y="1024128"/>
            <a:ext cx="731520" cy="0"/>
          </a:xfrm>
          <a:prstGeom prst="bentConnector3">
            <a:avLst/>
          </a:prstGeom>
          <a:ln w="30480">
            <a:solidFill>
              <a:srgbClr val="CE5A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291839" y="2665476"/>
            <a:ext cx="1737360" cy="2258568"/>
          </a:xfrm>
          <a:prstGeom prst="roundRect">
            <a:avLst>
              <a:gd name="adj" fmla="val 9000"/>
            </a:avLst>
          </a:prstGeom>
          <a:solidFill>
            <a:srgbClr val="FCF7EF"/>
          </a:solidFill>
          <a:ln w="1651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12640" y="2926080"/>
            <a:ext cx="555955" cy="622669"/>
          </a:xfrm>
          <a:prstGeom prst="roundRect">
            <a:avLst>
              <a:gd name="adj" fmla="val 12000"/>
            </a:avLst>
          </a:prstGeom>
          <a:solidFill>
            <a:srgbClr val="5A9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379427" y="3003913"/>
            <a:ext cx="222382" cy="222382"/>
          </a:xfrm>
          <a:prstGeom prst="ellipse">
            <a:avLst/>
          </a:prstGeom>
          <a:solidFill>
            <a:srgbClr val="FC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 Same Side Corner Rectangle 7"/>
          <p:cNvSpPr/>
          <p:nvPr/>
        </p:nvSpPr>
        <p:spPr>
          <a:xfrm>
            <a:off x="4301593" y="3248534"/>
            <a:ext cx="378049" cy="189024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C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52444" y="2953512"/>
            <a:ext cx="694944" cy="135514"/>
          </a:xfrm>
          <a:prstGeom prst="roundRect">
            <a:avLst>
              <a:gd name="adj" fmla="val 50000"/>
            </a:avLst>
          </a:prstGeom>
          <a:solidFill>
            <a:srgbClr val="5A9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52444" y="3264865"/>
            <a:ext cx="555955" cy="101635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52444" y="3681831"/>
            <a:ext cx="1250899" cy="101635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52444" y="3952859"/>
            <a:ext cx="1111910" cy="101635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52444" y="4223887"/>
            <a:ext cx="1181404" cy="101635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39" y="4381987"/>
            <a:ext cx="1737360" cy="587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944" b="0" i="0">
                <a:solidFill>
                  <a:srgbClr val="5A93DE"/>
                </a:solidFill>
                <a:latin typeface="Calibri"/>
              </a:rPr>
              <a:t>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5257800"/>
            <a:ext cx="1828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91" b="1" i="0" spc="160">
                <a:solidFill>
                  <a:srgbClr val="5A93DE"/>
                </a:solidFill>
                <a:latin typeface="Calibri"/>
              </a:rPr>
              <a:t>MALE NAME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2057400"/>
            <a:ext cx="2048256" cy="2432304"/>
          </a:xfrm>
          <a:prstGeom prst="roundRect">
            <a:avLst>
              <a:gd name="adj" fmla="val 12000"/>
            </a:avLst>
          </a:prstGeom>
          <a:solidFill>
            <a:srgbClr val="F3DDE7"/>
          </a:solidFill>
          <a:ln>
            <a:noFill/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132320" y="2162556"/>
            <a:ext cx="1737360" cy="2258568"/>
          </a:xfrm>
          <a:prstGeom prst="roundRect">
            <a:avLst>
              <a:gd name="adj" fmla="val 9000"/>
            </a:avLst>
          </a:prstGeom>
          <a:solidFill>
            <a:srgbClr val="FCF7EF"/>
          </a:solidFill>
          <a:ln w="1651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53120" y="2423160"/>
            <a:ext cx="555955" cy="622669"/>
          </a:xfrm>
          <a:prstGeom prst="roundRect">
            <a:avLst>
              <a:gd name="adj" fmla="val 12000"/>
            </a:avLst>
          </a:prstGeom>
          <a:solidFill>
            <a:srgbClr val="E96C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19907" y="2500993"/>
            <a:ext cx="222382" cy="222382"/>
          </a:xfrm>
          <a:prstGeom prst="ellipse">
            <a:avLst/>
          </a:prstGeom>
          <a:solidFill>
            <a:srgbClr val="FC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8142073" y="2745614"/>
            <a:ext cx="378049" cy="189024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C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92923" y="2450592"/>
            <a:ext cx="694944" cy="135514"/>
          </a:xfrm>
          <a:prstGeom prst="roundRect">
            <a:avLst>
              <a:gd name="adj" fmla="val 50000"/>
            </a:avLst>
          </a:prstGeom>
          <a:solidFill>
            <a:srgbClr val="E96C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92923" y="2761945"/>
            <a:ext cx="555955" cy="101635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92923" y="3178911"/>
            <a:ext cx="1250899" cy="101635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92923" y="3449939"/>
            <a:ext cx="1111910" cy="101635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92923" y="3720967"/>
            <a:ext cx="1181404" cy="101635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0" y="3879067"/>
            <a:ext cx="1737360" cy="587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944" b="0" i="0">
                <a:solidFill>
                  <a:srgbClr val="E96CA4"/>
                </a:solidFill>
                <a:latin typeface="Calibri"/>
              </a:rPr>
              <a:t>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43800" y="1719072"/>
            <a:ext cx="914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15" b="1" i="0">
                <a:solidFill>
                  <a:srgbClr val="E96CA4"/>
                </a:solidFill>
                <a:latin typeface="Calibri"/>
              </a:rPr>
              <a:t>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95160" y="4709160"/>
            <a:ext cx="20116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91" b="1" i="0" spc="160">
                <a:solidFill>
                  <a:srgbClr val="E96CA4"/>
                </a:solidFill>
                <a:latin typeface="Calibri"/>
              </a:rPr>
              <a:t>FEMALE NAME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3687" y="5577840"/>
            <a:ext cx="117043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15" b="1" i="0">
                <a:solidFill>
                  <a:srgbClr val="3E2C1E"/>
                </a:solidFill>
                <a:latin typeface="Georgia"/>
              </a:rPr>
              <a:t>Female names scored </a:t>
            </a:r>
            <a:r>
              <a:rPr sz="3015" b="1" i="0">
                <a:solidFill>
                  <a:srgbClr val="E96CA4"/>
                </a:solidFill>
                <a:latin typeface="Georgia"/>
              </a:rPr>
              <a:t>slightly higher</a:t>
            </a:r>
            <a:r>
              <a:rPr sz="3015" b="1" i="0">
                <a:solidFill>
                  <a:srgbClr val="3E2C1E"/>
                </a:solidFill>
                <a:latin typeface="Georgia"/>
              </a:rPr>
              <a:t> — same resume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803136"/>
            <a:ext cx="2377439" cy="54864"/>
          </a:xfrm>
          <a:prstGeom prst="rect">
            <a:avLst/>
          </a:prstGeom>
          <a:solidFill>
            <a:srgbClr val="CE5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4869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76" b="0" i="0">
                <a:solidFill>
                  <a:srgbClr val="9B8571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5EDDF"/>
              </a:gs>
              <a:gs pos="100000">
                <a:srgbClr val="E7D3B8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30352"/>
            <a:ext cx="73152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55" b="1" i="0" spc="420">
                <a:solidFill>
                  <a:srgbClr val="DCA62A"/>
                </a:solidFill>
                <a:latin typeface="Calibri"/>
              </a:rPr>
              <a:t>THE FIX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30087" y="1024128"/>
            <a:ext cx="731520" cy="0"/>
          </a:xfrm>
          <a:prstGeom prst="bentConnector3">
            <a:avLst/>
          </a:prstGeom>
          <a:ln w="30480">
            <a:solidFill>
              <a:srgbClr val="DCA62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291840" y="1673351"/>
            <a:ext cx="1645920" cy="2139696"/>
          </a:xfrm>
          <a:prstGeom prst="roundRect">
            <a:avLst>
              <a:gd name="adj" fmla="val 9000"/>
            </a:avLst>
          </a:prstGeom>
          <a:solidFill>
            <a:srgbClr val="FCF7EF"/>
          </a:solidFill>
          <a:ln w="1651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64177" y="1920239"/>
            <a:ext cx="526694" cy="589897"/>
          </a:xfrm>
          <a:prstGeom prst="roundRect">
            <a:avLst>
              <a:gd name="adj" fmla="val 12000"/>
            </a:avLst>
          </a:prstGeom>
          <a:solidFill>
            <a:srgbClr val="C18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322185" y="1993977"/>
            <a:ext cx="210677" cy="210677"/>
          </a:xfrm>
          <a:prstGeom prst="ellipse">
            <a:avLst/>
          </a:prstGeom>
          <a:solidFill>
            <a:srgbClr val="FC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 Same Side Corner Rectangle 7"/>
          <p:cNvSpPr/>
          <p:nvPr/>
        </p:nvSpPr>
        <p:spPr>
          <a:xfrm>
            <a:off x="4248448" y="2225722"/>
            <a:ext cx="358152" cy="17907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C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38728" y="1947671"/>
            <a:ext cx="658368" cy="128381"/>
          </a:xfrm>
          <a:prstGeom prst="roundRect">
            <a:avLst>
              <a:gd name="adj" fmla="val 50000"/>
            </a:avLst>
          </a:prstGeom>
          <a:solidFill>
            <a:srgbClr val="C18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38728" y="2241194"/>
            <a:ext cx="526694" cy="96286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38728" y="2636215"/>
            <a:ext cx="1185062" cy="96286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38728" y="2892978"/>
            <a:ext cx="1053388" cy="96286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38728" y="3149742"/>
            <a:ext cx="1119225" cy="96286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5638647" y="2578608"/>
            <a:ext cx="914400" cy="329184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9B85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251192" y="1673351"/>
            <a:ext cx="1645920" cy="2139696"/>
          </a:xfrm>
          <a:prstGeom prst="roundRect">
            <a:avLst>
              <a:gd name="adj" fmla="val 9000"/>
            </a:avLst>
          </a:prstGeom>
          <a:solidFill>
            <a:srgbClr val="FCF7EF"/>
          </a:solidFill>
          <a:ln w="1651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23529" y="1920239"/>
            <a:ext cx="526694" cy="589897"/>
          </a:xfrm>
          <a:prstGeom prst="roundRect">
            <a:avLst>
              <a:gd name="adj" fmla="val 12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79" y="1947671"/>
            <a:ext cx="658368" cy="128381"/>
          </a:xfrm>
          <a:prstGeom prst="roundRect">
            <a:avLst>
              <a:gd name="adj" fmla="val 3000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498079" y="2241194"/>
            <a:ext cx="526694" cy="96286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498079" y="2636215"/>
            <a:ext cx="1185062" cy="96286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98079" y="2892978"/>
            <a:ext cx="1053388" cy="96286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98079" y="3149742"/>
            <a:ext cx="1119225" cy="96286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2552" y="3977639"/>
            <a:ext cx="27432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49" b="1" i="0">
                <a:solidFill>
                  <a:srgbClr val="6B4A34"/>
                </a:solidFill>
                <a:latin typeface="Consolas"/>
              </a:rPr>
              <a:t>[PRIVATE_PERSON]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07127" y="4160520"/>
            <a:ext cx="23774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728" b="1" i="0">
                <a:solidFill>
                  <a:srgbClr val="DCA62A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8007" y="5440680"/>
            <a:ext cx="11155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47" b="1" i="0">
                <a:solidFill>
                  <a:srgbClr val="3E2C1E"/>
                </a:solidFill>
                <a:latin typeface="Georgia"/>
              </a:rPr>
              <a:t>Remove the name → the bias disappears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803136"/>
            <a:ext cx="2651759" cy="54864"/>
          </a:xfrm>
          <a:prstGeom prst="rect">
            <a:avLst/>
          </a:prstGeom>
          <a:solidFill>
            <a:srgbClr val="DCA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4869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76" b="0" i="0">
                <a:solidFill>
                  <a:srgbClr val="9B8571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FE1D3"/>
              </a:gs>
              <a:gs pos="100000">
                <a:srgbClr val="E7D3B8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30352"/>
            <a:ext cx="73152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55" b="1" i="0" spc="420">
                <a:solidFill>
                  <a:srgbClr val="C18150"/>
                </a:solidFill>
                <a:latin typeface="Calibri"/>
              </a:rPr>
              <a:t>WHY IT HAPPENS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30087" y="1024128"/>
            <a:ext cx="731520" cy="0"/>
          </a:xfrm>
          <a:prstGeom prst="bentConnector3">
            <a:avLst/>
          </a:prstGeom>
          <a:ln w="30480">
            <a:solidFill>
              <a:srgbClr val="C181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Isosceles Triangle 4"/>
          <p:cNvSpPr/>
          <p:nvPr/>
        </p:nvSpPr>
        <p:spPr>
          <a:xfrm>
            <a:off x="5592927" y="3017520"/>
            <a:ext cx="1005840" cy="868680"/>
          </a:xfrm>
          <a:prstGeom prst="triangle">
            <a:avLst/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13551" y="2423160"/>
            <a:ext cx="164592" cy="685800"/>
          </a:xfrm>
          <a:prstGeom prst="roundRect">
            <a:avLst>
              <a:gd name="adj" fmla="val 5000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 rot="540000">
            <a:off x="3947007" y="2798064"/>
            <a:ext cx="4297680" cy="164592"/>
          </a:xfrm>
          <a:prstGeom prst="roundRect">
            <a:avLst>
              <a:gd name="adj" fmla="val 50000"/>
            </a:avLst>
          </a:prstGeom>
          <a:solidFill>
            <a:srgbClr val="C18150"/>
          </a:solidFill>
          <a:ln>
            <a:noFill/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3973463" y="2544207"/>
            <a:ext cx="0" cy="868680"/>
          </a:xfrm>
          <a:prstGeom prst="bentConnector3">
            <a:avLst/>
          </a:prstGeom>
          <a:ln w="20320">
            <a:solidFill>
              <a:srgbClr val="6B4A3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406535" y="3412887"/>
            <a:ext cx="1133856" cy="109728"/>
          </a:xfrm>
          <a:prstGeom prst="roundRect">
            <a:avLst>
              <a:gd name="adj" fmla="val 50000"/>
            </a:avLst>
          </a:prstGeom>
          <a:solidFill>
            <a:srgbClr val="CDA07E"/>
          </a:solidFill>
          <a:ln>
            <a:noFill/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1943" y="2544207"/>
            <a:ext cx="1463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567" b="1" i="0">
                <a:solidFill>
                  <a:srgbClr val="5A93DE"/>
                </a:solidFill>
                <a:latin typeface="Calibri"/>
              </a:rPr>
              <a:t>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18231" y="3216512"/>
            <a:ext cx="0" cy="868680"/>
          </a:xfrm>
          <a:prstGeom prst="bentConnector3">
            <a:avLst/>
          </a:prstGeom>
          <a:ln w="20320">
            <a:solidFill>
              <a:srgbClr val="6B4A3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651303" y="4085192"/>
            <a:ext cx="1133856" cy="109728"/>
          </a:xfrm>
          <a:prstGeom prst="roundRect">
            <a:avLst>
              <a:gd name="adj" fmla="val 50000"/>
            </a:avLst>
          </a:prstGeom>
          <a:solidFill>
            <a:srgbClr val="CDA07E"/>
          </a:solidFill>
          <a:ln>
            <a:noFill/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86711" y="3216512"/>
            <a:ext cx="1463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567" b="1" i="0">
                <a:solidFill>
                  <a:srgbClr val="E96CA4"/>
                </a:solidFill>
                <a:latin typeface="Calibri"/>
              </a:rPr>
              <a:t>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8007" y="5166360"/>
            <a:ext cx="1115568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3131" b="1" i="0">
                <a:solidFill>
                  <a:srgbClr val="3E2C1E"/>
                </a:solidFill>
                <a:latin typeface="Georgia"/>
              </a:rPr>
              <a:t>Fairness training may over-correct —</a:t>
            </a:r>
          </a:p>
          <a:p>
            <a:pPr algn="ctr">
              <a:lnSpc>
                <a:spcPct val="106000"/>
              </a:lnSpc>
            </a:pPr>
            <a:r>
              <a:rPr sz="3131" b="1" i="0">
                <a:solidFill>
                  <a:srgbClr val="3E2C1E"/>
                </a:solidFill>
                <a:latin typeface="Georgia"/>
              </a:rPr>
              <a:t>tipping toward women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2926080" cy="54864"/>
          </a:xfrm>
          <a:prstGeom prst="rect">
            <a:avLst/>
          </a:prstGeom>
          <a:solidFill>
            <a:srgbClr val="C18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4869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76" b="0" i="0">
                <a:solidFill>
                  <a:srgbClr val="9B8571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5EDDF"/>
              </a:gs>
              <a:gs pos="100000">
                <a:srgbClr val="EFE1D3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30352"/>
            <a:ext cx="73152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55" b="1" i="0" spc="420">
                <a:solidFill>
                  <a:srgbClr val="C18150"/>
                </a:solidFill>
                <a:latin typeface="Calibri"/>
              </a:rPr>
              <a:t>THE TAKEAWAY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30087" y="1024128"/>
            <a:ext cx="731520" cy="0"/>
          </a:xfrm>
          <a:prstGeom prst="bentConnector3">
            <a:avLst/>
          </a:prstGeom>
          <a:ln w="30480">
            <a:solidFill>
              <a:srgbClr val="C181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35127" y="2194560"/>
            <a:ext cx="11521440" cy="2103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4291" b="1" i="0">
                <a:solidFill>
                  <a:srgbClr val="3E2C1E"/>
                </a:solidFill>
                <a:latin typeface="Georgia"/>
              </a:rPr>
              <a:t>AI can be a helpful tool —</a:t>
            </a:r>
          </a:p>
          <a:p>
            <a:pPr algn="ctr">
              <a:lnSpc>
                <a:spcPct val="114000"/>
              </a:lnSpc>
            </a:pPr>
            <a:r>
              <a:rPr sz="4291" b="1" i="0">
                <a:solidFill>
                  <a:srgbClr val="3E2C1E"/>
                </a:solidFill>
                <a:latin typeface="Georgia"/>
              </a:rPr>
              <a:t/>
            </a:r>
            <a:r>
              <a:rPr sz="4291" b="1" i="0">
                <a:solidFill>
                  <a:srgbClr val="CE5A38"/>
                </a:solidFill>
                <a:latin typeface="Georgia"/>
              </a:rPr>
              <a:t>don't assume it's always fair.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3767" y="4937760"/>
            <a:ext cx="10424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68" b="1" i="1">
                <a:solidFill>
                  <a:srgbClr val="C18150"/>
                </a:solidFill>
                <a:latin typeface="Georgia"/>
              </a:rPr>
              <a:t>Question its decisions before you trust them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3200400" cy="54864"/>
          </a:xfrm>
          <a:prstGeom prst="rect">
            <a:avLst/>
          </a:prstGeom>
          <a:solidFill>
            <a:srgbClr val="C18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4869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76" b="0" i="0">
                <a:solidFill>
                  <a:srgbClr val="9B8571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5EDDF"/>
              </a:gs>
              <a:gs pos="100000">
                <a:srgbClr val="E7D3B8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69767" y="2468880"/>
            <a:ext cx="58521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728" b="0" i="0">
                <a:solidFill>
                  <a:srgbClr val="E96CA4"/>
                </a:solidFill>
                <a:latin typeface="Calibri"/>
              </a:rPr>
              <a:t>♀</a:t>
            </a:r>
            <a:r>
              <a:rPr sz="6728" b="0" i="0">
                <a:solidFill>
                  <a:srgbClr val="3E2C1E"/>
                </a:solidFill>
                <a:latin typeface="Calibri"/>
              </a:rPr>
              <a:t>    </a:t>
            </a:r>
            <a:r>
              <a:rPr sz="6728" b="0" i="0">
                <a:solidFill>
                  <a:srgbClr val="5A93DE"/>
                </a:solidFill>
                <a:latin typeface="Calibri"/>
              </a:rPr>
              <a:t>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23847" y="3703320"/>
            <a:ext cx="91440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495" b="1" i="0">
                <a:solidFill>
                  <a:srgbClr val="3E2C1E"/>
                </a:solidFill>
                <a:latin typeface="Georgia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647" y="4800600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23" b="1" i="0" spc="160">
                <a:solidFill>
                  <a:srgbClr val="C18150"/>
                </a:solidFill>
                <a:latin typeface="Calibri"/>
              </a:rPr>
              <a:t>Gender Bias in LLM Hiring Decisions  ·  Evidence from Japan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