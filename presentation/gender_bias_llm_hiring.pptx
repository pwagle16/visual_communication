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5EDDF"/>
              </a:gs>
              <a:gs pos="100000">
                <a:srgbClr val="E7D3B8"/>
              </a:gs>
            </a:gsLst>
            <a:lin scaled="0" ang="14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 rot="21060000">
            <a:off x="868680" y="1143000"/>
            <a:ext cx="1691640" cy="2148840"/>
          </a:xfrm>
          <a:prstGeom prst="roundRect">
            <a:avLst>
              <a:gd name="adj" fmla="val 9000"/>
            </a:avLst>
          </a:prstGeom>
          <a:solidFill>
            <a:srgbClr val="FCF7EF"/>
          </a:solidFill>
          <a:ln w="12700">
            <a:solidFill>
              <a:srgbClr val="E4D5C0"/>
            </a:solidFill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 rot="480000">
            <a:off x="9646920" y="3611880"/>
            <a:ext cx="1691640" cy="2148840"/>
          </a:xfrm>
          <a:prstGeom prst="roundRect">
            <a:avLst>
              <a:gd name="adj" fmla="val 9000"/>
            </a:avLst>
          </a:prstGeom>
          <a:solidFill>
            <a:srgbClr val="FCF7EF"/>
          </a:solidFill>
          <a:ln w="12700">
            <a:solidFill>
              <a:srgbClr val="E4D5C0"/>
            </a:solidFill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69767" y="1325880"/>
            <a:ext cx="585216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6200" b="0" i="0">
                <a:solidFill>
                  <a:srgbClr val="B0563A"/>
                </a:solidFill>
                <a:latin typeface="Calibri"/>
              </a:rPr>
              <a:t>♀</a:t>
            </a:r>
            <a:r>
              <a:rPr sz="6200" b="0" i="0">
                <a:solidFill>
                  <a:srgbClr val="9B8571"/>
                </a:solidFill>
                <a:latin typeface="Calibri"/>
              </a:rPr>
              <a:t>   vs   </a:t>
            </a:r>
            <a:r>
              <a:rPr sz="6200" b="0" i="0">
                <a:solidFill>
                  <a:srgbClr val="6B4A34"/>
                </a:solidFill>
                <a:latin typeface="Calibri"/>
              </a:rPr>
              <a:t>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3767" y="2880360"/>
            <a:ext cx="1042416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</a:pPr>
            <a:r>
              <a:rPr sz="4000" b="1" i="0">
                <a:solidFill>
                  <a:srgbClr val="3E2C1E"/>
                </a:solidFill>
                <a:latin typeface="Georgia"/>
              </a:rPr>
              <a:t>Gender bias when </a:t>
            </a:r>
            <a:r>
              <a:rPr sz="4000" b="1" i="0">
                <a:solidFill>
                  <a:srgbClr val="B0563A"/>
                </a:solidFill>
                <a:latin typeface="Georgia"/>
              </a:rPr>
              <a:t>AI</a:t>
            </a:r>
            <a:r>
              <a:rPr sz="4000" b="1" i="0">
                <a:solidFill>
                  <a:srgbClr val="3E2C1E"/>
                </a:solidFill>
                <a:latin typeface="Georgia"/>
              </a:rPr>
              <a:t> screens résumés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38247" y="4800600"/>
            <a:ext cx="7315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 spc="340">
                <a:solidFill>
                  <a:srgbClr val="A9744F"/>
                </a:solidFill>
                <a:latin typeface="Calibri"/>
              </a:rPr>
              <a:t>JAPANESE HIRING   ·   5 MODELS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5EDDF"/>
              </a:gs>
              <a:gs pos="100000">
                <a:srgbClr val="E7D3B8"/>
              </a:gs>
            </a:gsLst>
            <a:lin scaled="0" ang="14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438247" y="56692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 spc="420">
                <a:solidFill>
                  <a:srgbClr val="A9744F"/>
                </a:solidFill>
                <a:latin typeface="Calibri"/>
              </a:rPr>
              <a:t>THE SETUP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03239" y="987552"/>
            <a:ext cx="585216" cy="0"/>
          </a:xfrm>
          <a:prstGeom prst="bentConnector3">
            <a:avLst/>
          </a:prstGeom>
          <a:ln w="27940">
            <a:solidFill>
              <a:srgbClr val="A974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2263140" y="2496312"/>
            <a:ext cx="1600200" cy="2048256"/>
          </a:xfrm>
          <a:prstGeom prst="roundRect">
            <a:avLst>
              <a:gd name="adj" fmla="val 9000"/>
            </a:avLst>
          </a:prstGeom>
          <a:solidFill>
            <a:srgbClr val="FCF7EF"/>
          </a:solidFill>
          <a:ln w="16510">
            <a:solidFill>
              <a:srgbClr val="E4D5C0"/>
            </a:solidFill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19172" y="2752344"/>
            <a:ext cx="800100" cy="112654"/>
          </a:xfrm>
          <a:prstGeom prst="roundRect">
            <a:avLst>
              <a:gd name="adj" fmla="val 50000"/>
            </a:avLst>
          </a:prstGeom>
          <a:solidFill>
            <a:srgbClr val="B05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519172" y="3080064"/>
            <a:ext cx="1088136" cy="92171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519172" y="3325855"/>
            <a:ext cx="960120" cy="92171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519172" y="3571646"/>
            <a:ext cx="1056132" cy="92171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519172" y="3817437"/>
            <a:ext cx="672084" cy="92171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4251960" y="3355848"/>
            <a:ext cx="914400" cy="329184"/>
          </a:xfrm>
          <a:prstGeom prst="rightArrow">
            <a:avLst>
              <a:gd name="adj1" fmla="val 55000"/>
              <a:gd name="adj2" fmla="val 50000"/>
            </a:avLst>
          </a:prstGeom>
          <a:solidFill>
            <a:srgbClr val="9B85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96204" y="2720340"/>
            <a:ext cx="1600200" cy="1600200"/>
          </a:xfrm>
          <a:prstGeom prst="roundRect">
            <a:avLst>
              <a:gd name="adj" fmla="val 16000"/>
            </a:avLst>
          </a:prstGeom>
          <a:solidFill>
            <a:srgbClr val="FCF7EF"/>
          </a:solidFill>
          <a:ln w="25400">
            <a:solidFill>
              <a:srgbClr val="A9744F"/>
            </a:solidFill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760262" y="3184398"/>
            <a:ext cx="672084" cy="672084"/>
          </a:xfrm>
          <a:prstGeom prst="roundRect">
            <a:avLst>
              <a:gd name="adj" fmla="val 20000"/>
            </a:avLst>
          </a:prstGeom>
          <a:noFill/>
          <a:ln w="20320">
            <a:solidFill>
              <a:srgbClr val="A974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708256" y="2585923"/>
            <a:ext cx="72009" cy="192024"/>
          </a:xfrm>
          <a:prstGeom prst="roundRect">
            <a:avLst>
              <a:gd name="adj" fmla="val 50000"/>
            </a:avLst>
          </a:prstGeom>
          <a:solidFill>
            <a:srgbClr val="A9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708256" y="4262932"/>
            <a:ext cx="72009" cy="192024"/>
          </a:xfrm>
          <a:prstGeom prst="roundRect">
            <a:avLst>
              <a:gd name="adj" fmla="val 50000"/>
            </a:avLst>
          </a:prstGeom>
          <a:solidFill>
            <a:srgbClr val="A9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161788" y="3132391"/>
            <a:ext cx="192024" cy="72009"/>
          </a:xfrm>
          <a:prstGeom prst="roundRect">
            <a:avLst>
              <a:gd name="adj" fmla="val 50000"/>
            </a:avLst>
          </a:prstGeom>
          <a:solidFill>
            <a:srgbClr val="A9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838797" y="3132391"/>
            <a:ext cx="192024" cy="72009"/>
          </a:xfrm>
          <a:prstGeom prst="roundRect">
            <a:avLst>
              <a:gd name="adj" fmla="val 50000"/>
            </a:avLst>
          </a:prstGeom>
          <a:solidFill>
            <a:srgbClr val="A9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060300" y="2585923"/>
            <a:ext cx="72009" cy="192024"/>
          </a:xfrm>
          <a:prstGeom prst="roundRect">
            <a:avLst>
              <a:gd name="adj" fmla="val 50000"/>
            </a:avLst>
          </a:prstGeom>
          <a:solidFill>
            <a:srgbClr val="A9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060300" y="4262932"/>
            <a:ext cx="72009" cy="192024"/>
          </a:xfrm>
          <a:prstGeom prst="roundRect">
            <a:avLst>
              <a:gd name="adj" fmla="val 50000"/>
            </a:avLst>
          </a:prstGeom>
          <a:solidFill>
            <a:srgbClr val="A9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161788" y="3484435"/>
            <a:ext cx="192024" cy="72009"/>
          </a:xfrm>
          <a:prstGeom prst="roundRect">
            <a:avLst>
              <a:gd name="adj" fmla="val 50000"/>
            </a:avLst>
          </a:prstGeom>
          <a:solidFill>
            <a:srgbClr val="A9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838797" y="3484435"/>
            <a:ext cx="192024" cy="72009"/>
          </a:xfrm>
          <a:prstGeom prst="roundRect">
            <a:avLst>
              <a:gd name="adj" fmla="val 50000"/>
            </a:avLst>
          </a:prstGeom>
          <a:solidFill>
            <a:srgbClr val="A9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12344" y="2585923"/>
            <a:ext cx="72009" cy="192024"/>
          </a:xfrm>
          <a:prstGeom prst="roundRect">
            <a:avLst>
              <a:gd name="adj" fmla="val 50000"/>
            </a:avLst>
          </a:prstGeom>
          <a:solidFill>
            <a:srgbClr val="A9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412344" y="4262932"/>
            <a:ext cx="72009" cy="192024"/>
          </a:xfrm>
          <a:prstGeom prst="roundRect">
            <a:avLst>
              <a:gd name="adj" fmla="val 50000"/>
            </a:avLst>
          </a:prstGeom>
          <a:solidFill>
            <a:srgbClr val="A9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161788" y="3836479"/>
            <a:ext cx="192024" cy="72009"/>
          </a:xfrm>
          <a:prstGeom prst="roundRect">
            <a:avLst>
              <a:gd name="adj" fmla="val 50000"/>
            </a:avLst>
          </a:prstGeom>
          <a:solidFill>
            <a:srgbClr val="A9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838797" y="3836479"/>
            <a:ext cx="192024" cy="72009"/>
          </a:xfrm>
          <a:prstGeom prst="roundRect">
            <a:avLst>
              <a:gd name="adj" fmla="val 50000"/>
            </a:avLst>
          </a:prstGeom>
          <a:solidFill>
            <a:srgbClr val="A9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ight Arrow 25"/>
          <p:cNvSpPr/>
          <p:nvPr/>
        </p:nvSpPr>
        <p:spPr>
          <a:xfrm>
            <a:off x="7040879" y="3355848"/>
            <a:ext cx="914400" cy="329184"/>
          </a:xfrm>
          <a:prstGeom prst="rightArrow">
            <a:avLst>
              <a:gd name="adj1" fmla="val 55000"/>
              <a:gd name="adj2" fmla="val 50000"/>
            </a:avLst>
          </a:prstGeom>
          <a:solidFill>
            <a:srgbClr val="9B85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791041" y="2743200"/>
            <a:ext cx="614476" cy="614476"/>
          </a:xfrm>
          <a:prstGeom prst="ellipse">
            <a:avLst/>
          </a:prstGeom>
          <a:solidFill>
            <a:srgbClr val="6B4A34"/>
          </a:solidFill>
          <a:ln>
            <a:noFill/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 Same Side Corner Rectangle 27"/>
          <p:cNvSpPr/>
          <p:nvPr/>
        </p:nvSpPr>
        <p:spPr>
          <a:xfrm>
            <a:off x="8439911" y="3445459"/>
            <a:ext cx="1316736" cy="1170432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6B4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49527" y="5074920"/>
            <a:ext cx="9692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500" b="1" i="0">
                <a:solidFill>
                  <a:srgbClr val="3E2C1E"/>
                </a:solidFill>
                <a:latin typeface="Georgia"/>
              </a:rPr>
              <a:t>AI screens your résumé before a human ever sees it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803136"/>
            <a:ext cx="1230283" cy="54864"/>
          </a:xfrm>
          <a:prstGeom prst="rect">
            <a:avLst/>
          </a:prstGeom>
          <a:solidFill>
            <a:srgbClr val="A9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048695" y="6355080"/>
            <a:ext cx="914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9B8571"/>
                </a:solidFill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5EDDF"/>
              </a:gs>
              <a:gs pos="100000">
                <a:srgbClr val="E7D3B8"/>
              </a:gs>
            </a:gsLst>
            <a:lin scaled="0" ang="14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438247" y="56692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 spc="420">
                <a:solidFill>
                  <a:srgbClr val="A9744F"/>
                </a:solidFill>
                <a:latin typeface="Calibri"/>
              </a:rPr>
              <a:t>WHAT IS AN LLM?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03239" y="987552"/>
            <a:ext cx="585216" cy="0"/>
          </a:xfrm>
          <a:prstGeom prst="bentConnector3">
            <a:avLst/>
          </a:prstGeom>
          <a:ln w="27940">
            <a:solidFill>
              <a:srgbClr val="A974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2446020" y="2631186"/>
            <a:ext cx="1874519" cy="374904"/>
          </a:xfrm>
          <a:prstGeom prst="roundRect">
            <a:avLst>
              <a:gd name="adj" fmla="val 40000"/>
            </a:avLst>
          </a:prstGeom>
          <a:solidFill>
            <a:srgbClr val="EEDFCB"/>
          </a:solidFill>
          <a:ln w="15240">
            <a:solidFill>
              <a:srgbClr val="A9744F"/>
            </a:solidFill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95981" y="2743657"/>
            <a:ext cx="299923" cy="149961"/>
          </a:xfrm>
          <a:prstGeom prst="roundRect">
            <a:avLst>
              <a:gd name="adj" fmla="val 50000"/>
            </a:avLst>
          </a:prstGeom>
          <a:solidFill>
            <a:srgbClr val="A9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446020" y="3193541"/>
            <a:ext cx="1874519" cy="374904"/>
          </a:xfrm>
          <a:prstGeom prst="roundRect">
            <a:avLst>
              <a:gd name="adj" fmla="val 40000"/>
            </a:avLst>
          </a:prstGeom>
          <a:solidFill>
            <a:srgbClr val="F1DED3"/>
          </a:solidFill>
          <a:ln w="15240">
            <a:solidFill>
              <a:srgbClr val="B0563A"/>
            </a:solidFill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595981" y="3306013"/>
            <a:ext cx="299923" cy="149961"/>
          </a:xfrm>
          <a:prstGeom prst="roundRect">
            <a:avLst>
              <a:gd name="adj" fmla="val 50000"/>
            </a:avLst>
          </a:prstGeom>
          <a:solidFill>
            <a:srgbClr val="B05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446020" y="3755898"/>
            <a:ext cx="1874519" cy="374904"/>
          </a:xfrm>
          <a:prstGeom prst="roundRect">
            <a:avLst>
              <a:gd name="adj" fmla="val 40000"/>
            </a:avLst>
          </a:prstGeom>
          <a:solidFill>
            <a:srgbClr val="F1E7C8"/>
          </a:solidFill>
          <a:ln w="15240">
            <a:solidFill>
              <a:srgbClr val="6B4A34"/>
            </a:solidFill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595981" y="3868369"/>
            <a:ext cx="299923" cy="149961"/>
          </a:xfrm>
          <a:prstGeom prst="roundRect">
            <a:avLst>
              <a:gd name="adj" fmla="val 50000"/>
            </a:avLst>
          </a:prstGeom>
          <a:solidFill>
            <a:srgbClr val="6B4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4823459" y="3310127"/>
            <a:ext cx="960120" cy="329184"/>
          </a:xfrm>
          <a:prstGeom prst="rightArrow">
            <a:avLst>
              <a:gd name="adj1" fmla="val 55000"/>
              <a:gd name="adj2" fmla="val 50000"/>
            </a:avLst>
          </a:prstGeom>
          <a:solidFill>
            <a:srgbClr val="9B85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83680" y="2606039"/>
            <a:ext cx="1737360" cy="1737360"/>
          </a:xfrm>
          <a:prstGeom prst="roundRect">
            <a:avLst>
              <a:gd name="adj" fmla="val 16000"/>
            </a:avLst>
          </a:prstGeom>
          <a:solidFill>
            <a:srgbClr val="FCF7EF"/>
          </a:solidFill>
          <a:ln w="25400">
            <a:solidFill>
              <a:srgbClr val="6B4A34"/>
            </a:solidFill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087514" y="3109874"/>
            <a:ext cx="729691" cy="729691"/>
          </a:xfrm>
          <a:prstGeom prst="roundRect">
            <a:avLst>
              <a:gd name="adj" fmla="val 20000"/>
            </a:avLst>
          </a:prstGeom>
          <a:noFill/>
          <a:ln w="20320">
            <a:solidFill>
              <a:srgbClr val="6B4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031050" y="2460101"/>
            <a:ext cx="78181" cy="208483"/>
          </a:xfrm>
          <a:prstGeom prst="roundRect">
            <a:avLst>
              <a:gd name="adj" fmla="val 50000"/>
            </a:avLst>
          </a:prstGeom>
          <a:solidFill>
            <a:srgbClr val="6B4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031050" y="4280855"/>
            <a:ext cx="78181" cy="208483"/>
          </a:xfrm>
          <a:prstGeom prst="roundRect">
            <a:avLst>
              <a:gd name="adj" fmla="val 50000"/>
            </a:avLst>
          </a:prstGeom>
          <a:solidFill>
            <a:srgbClr val="6B4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37741" y="3053410"/>
            <a:ext cx="208483" cy="78181"/>
          </a:xfrm>
          <a:prstGeom prst="roundRect">
            <a:avLst>
              <a:gd name="adj" fmla="val 50000"/>
            </a:avLst>
          </a:prstGeom>
          <a:solidFill>
            <a:srgbClr val="6B4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58495" y="3053410"/>
            <a:ext cx="208483" cy="78181"/>
          </a:xfrm>
          <a:prstGeom prst="roundRect">
            <a:avLst>
              <a:gd name="adj" fmla="val 50000"/>
            </a:avLst>
          </a:prstGeom>
          <a:solidFill>
            <a:srgbClr val="6B4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413269" y="2460101"/>
            <a:ext cx="78181" cy="208483"/>
          </a:xfrm>
          <a:prstGeom prst="roundRect">
            <a:avLst>
              <a:gd name="adj" fmla="val 50000"/>
            </a:avLst>
          </a:prstGeom>
          <a:solidFill>
            <a:srgbClr val="6B4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413269" y="4280855"/>
            <a:ext cx="78181" cy="208483"/>
          </a:xfrm>
          <a:prstGeom prst="roundRect">
            <a:avLst>
              <a:gd name="adj" fmla="val 50000"/>
            </a:avLst>
          </a:prstGeom>
          <a:solidFill>
            <a:srgbClr val="6B4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37741" y="3435629"/>
            <a:ext cx="208483" cy="78181"/>
          </a:xfrm>
          <a:prstGeom prst="roundRect">
            <a:avLst>
              <a:gd name="adj" fmla="val 50000"/>
            </a:avLst>
          </a:prstGeom>
          <a:solidFill>
            <a:srgbClr val="6B4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258495" y="3435629"/>
            <a:ext cx="208483" cy="78181"/>
          </a:xfrm>
          <a:prstGeom prst="roundRect">
            <a:avLst>
              <a:gd name="adj" fmla="val 50000"/>
            </a:avLst>
          </a:prstGeom>
          <a:solidFill>
            <a:srgbClr val="6B4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795488" y="2460101"/>
            <a:ext cx="78181" cy="208483"/>
          </a:xfrm>
          <a:prstGeom prst="roundRect">
            <a:avLst>
              <a:gd name="adj" fmla="val 50000"/>
            </a:avLst>
          </a:prstGeom>
          <a:solidFill>
            <a:srgbClr val="6B4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795488" y="4280855"/>
            <a:ext cx="78181" cy="208483"/>
          </a:xfrm>
          <a:prstGeom prst="roundRect">
            <a:avLst>
              <a:gd name="adj" fmla="val 50000"/>
            </a:avLst>
          </a:prstGeom>
          <a:solidFill>
            <a:srgbClr val="6B4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37741" y="3817848"/>
            <a:ext cx="208483" cy="78181"/>
          </a:xfrm>
          <a:prstGeom prst="roundRect">
            <a:avLst>
              <a:gd name="adj" fmla="val 50000"/>
            </a:avLst>
          </a:prstGeom>
          <a:solidFill>
            <a:srgbClr val="6B4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258495" y="3817848"/>
            <a:ext cx="208483" cy="78181"/>
          </a:xfrm>
          <a:prstGeom prst="roundRect">
            <a:avLst>
              <a:gd name="adj" fmla="val 50000"/>
            </a:avLst>
          </a:prstGeom>
          <a:solidFill>
            <a:srgbClr val="6B4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828800" y="5029200"/>
            <a:ext cx="31089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 spc="140">
                <a:solidFill>
                  <a:srgbClr val="5A4433"/>
                </a:solidFill>
                <a:latin typeface="Calibri"/>
              </a:rPr>
              <a:t>TRAINED ON HUMAN TEXT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97880" y="5029200"/>
            <a:ext cx="31089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 spc="140">
                <a:solidFill>
                  <a:srgbClr val="5A4433"/>
                </a:solidFill>
                <a:latin typeface="Calibri"/>
              </a:rPr>
              <a:t>LEARNS THE PATTERNS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803136"/>
            <a:ext cx="1479665" cy="54864"/>
          </a:xfrm>
          <a:prstGeom prst="rect">
            <a:avLst/>
          </a:prstGeom>
          <a:solidFill>
            <a:srgbClr val="A9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048695" y="6355080"/>
            <a:ext cx="914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9B8571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5EDDF"/>
              </a:gs>
              <a:gs pos="100000">
                <a:srgbClr val="EFE1D3"/>
              </a:gs>
            </a:gsLst>
            <a:lin scaled="0" ang="14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438247" y="56692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 spc="420">
                <a:solidFill>
                  <a:srgbClr val="B0563A"/>
                </a:solidFill>
                <a:latin typeface="Calibri"/>
              </a:rPr>
              <a:t>THE QUESTION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03239" y="987552"/>
            <a:ext cx="585216" cy="0"/>
          </a:xfrm>
          <a:prstGeom prst="bentConnector3">
            <a:avLst/>
          </a:prstGeom>
          <a:ln w="27940">
            <a:solidFill>
              <a:srgbClr val="B056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Isosceles Triangle 4"/>
          <p:cNvSpPr/>
          <p:nvPr/>
        </p:nvSpPr>
        <p:spPr>
          <a:xfrm>
            <a:off x="5592927" y="3200400"/>
            <a:ext cx="1005840" cy="868680"/>
          </a:xfrm>
          <a:prstGeom prst="triangle">
            <a:avLst/>
          </a:prstGeom>
          <a:solidFill>
            <a:srgbClr val="6B4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013551" y="2606040"/>
            <a:ext cx="164592" cy="685800"/>
          </a:xfrm>
          <a:prstGeom prst="roundRect">
            <a:avLst>
              <a:gd name="adj" fmla="val 50000"/>
            </a:avLst>
          </a:prstGeom>
          <a:solidFill>
            <a:srgbClr val="6B4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947007" y="2980944"/>
            <a:ext cx="4297680" cy="164592"/>
          </a:xfrm>
          <a:prstGeom prst="roundRect">
            <a:avLst>
              <a:gd name="adj" fmla="val 50000"/>
            </a:avLst>
          </a:prstGeom>
          <a:solidFill>
            <a:srgbClr val="A9744F"/>
          </a:solidFill>
          <a:ln>
            <a:noFill/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3947007" y="3063240"/>
            <a:ext cx="0" cy="868680"/>
          </a:xfrm>
          <a:prstGeom prst="bentConnector3">
            <a:avLst/>
          </a:prstGeom>
          <a:ln w="20320">
            <a:solidFill>
              <a:srgbClr val="6B4A3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380079" y="3931920"/>
            <a:ext cx="1133856" cy="109728"/>
          </a:xfrm>
          <a:prstGeom prst="roundRect">
            <a:avLst>
              <a:gd name="adj" fmla="val 50000"/>
            </a:avLst>
          </a:prstGeom>
          <a:solidFill>
            <a:srgbClr val="CDA07E"/>
          </a:solidFill>
          <a:ln>
            <a:noFill/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15487" y="3063239"/>
            <a:ext cx="14630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800" b="1" i="0">
                <a:solidFill>
                  <a:srgbClr val="6B4A34"/>
                </a:solidFill>
                <a:latin typeface="Calibri"/>
              </a:rPr>
              <a:t>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44687" y="3063240"/>
            <a:ext cx="0" cy="868680"/>
          </a:xfrm>
          <a:prstGeom prst="bentConnector3">
            <a:avLst/>
          </a:prstGeom>
          <a:ln w="20320">
            <a:solidFill>
              <a:srgbClr val="6B4A3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677759" y="3931920"/>
            <a:ext cx="1133856" cy="109728"/>
          </a:xfrm>
          <a:prstGeom prst="roundRect">
            <a:avLst>
              <a:gd name="adj" fmla="val 50000"/>
            </a:avLst>
          </a:prstGeom>
          <a:solidFill>
            <a:srgbClr val="CDA07E"/>
          </a:solidFill>
          <a:ln>
            <a:noFill/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13167" y="3063239"/>
            <a:ext cx="14630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800" b="1" i="0">
                <a:solidFill>
                  <a:srgbClr val="B0563A"/>
                </a:solidFill>
                <a:latin typeface="Calibri"/>
              </a:rPr>
              <a:t>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55767" y="1234440"/>
            <a:ext cx="128016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6600" b="1" i="0">
                <a:solidFill>
                  <a:srgbClr val="B0563A"/>
                </a:solidFill>
                <a:latin typeface="Georgia"/>
              </a:rPr>
              <a:t>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5207" y="5440680"/>
            <a:ext cx="102412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3E2C1E"/>
                </a:solidFill>
                <a:latin typeface="Georgia"/>
              </a:rPr>
              <a:t>Same résumé, different name — will the score change?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803136"/>
            <a:ext cx="1729047" cy="54864"/>
          </a:xfrm>
          <a:prstGeom prst="rect">
            <a:avLst/>
          </a:prstGeom>
          <a:solidFill>
            <a:srgbClr val="B05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048695" y="6355080"/>
            <a:ext cx="914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9B8571"/>
                </a:solidFill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5EDDF"/>
              </a:gs>
              <a:gs pos="100000">
                <a:srgbClr val="E7D3B8"/>
              </a:gs>
            </a:gsLst>
            <a:lin scaled="0" ang="14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438247" y="56692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 spc="420">
                <a:solidFill>
                  <a:srgbClr val="A9744F"/>
                </a:solidFill>
                <a:latin typeface="Calibri"/>
              </a:rPr>
              <a:t>THE TEST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03239" y="987552"/>
            <a:ext cx="585216" cy="0"/>
          </a:xfrm>
          <a:prstGeom prst="bentConnector3">
            <a:avLst/>
          </a:prstGeom>
          <a:ln w="27940">
            <a:solidFill>
              <a:srgbClr val="A974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3131820" y="1889150"/>
            <a:ext cx="1691640" cy="2165299"/>
          </a:xfrm>
          <a:prstGeom prst="roundRect">
            <a:avLst>
              <a:gd name="adj" fmla="val 9000"/>
            </a:avLst>
          </a:prstGeom>
          <a:solidFill>
            <a:srgbClr val="FCF7EF"/>
          </a:solidFill>
          <a:ln w="16510">
            <a:solidFill>
              <a:srgbClr val="E4D5C0"/>
            </a:solidFill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402482" y="2159812"/>
            <a:ext cx="845820" cy="119091"/>
          </a:xfrm>
          <a:prstGeom prst="roundRect">
            <a:avLst>
              <a:gd name="adj" fmla="val 50000"/>
            </a:avLst>
          </a:prstGeom>
          <a:solidFill>
            <a:srgbClr val="B05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402482" y="2506260"/>
            <a:ext cx="1150315" cy="97438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02482" y="2766096"/>
            <a:ext cx="1014984" cy="97438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02482" y="3025932"/>
            <a:ext cx="1116482" cy="97438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02482" y="3285768"/>
            <a:ext cx="710488" cy="97438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31820" y="3253288"/>
            <a:ext cx="1691640" cy="73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0" i="0">
                <a:solidFill>
                  <a:srgbClr val="B0563A"/>
                </a:solidFill>
                <a:latin typeface="Calibri"/>
              </a:rPr>
              <a:t>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81447" y="2468880"/>
            <a:ext cx="18288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800" b="1" i="0">
                <a:solidFill>
                  <a:srgbClr val="9B8571"/>
                </a:solidFill>
                <a:latin typeface="Georgia"/>
              </a:rPr>
              <a:t>=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65492" y="1889150"/>
            <a:ext cx="1691640" cy="2165299"/>
          </a:xfrm>
          <a:prstGeom prst="roundRect">
            <a:avLst>
              <a:gd name="adj" fmla="val 9000"/>
            </a:avLst>
          </a:prstGeom>
          <a:solidFill>
            <a:srgbClr val="FCF7EF"/>
          </a:solidFill>
          <a:ln w="16510">
            <a:solidFill>
              <a:srgbClr val="E4D5C0"/>
            </a:solidFill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36154" y="2159812"/>
            <a:ext cx="845820" cy="119091"/>
          </a:xfrm>
          <a:prstGeom prst="roundRect">
            <a:avLst>
              <a:gd name="adj" fmla="val 50000"/>
            </a:avLst>
          </a:prstGeom>
          <a:solidFill>
            <a:srgbClr val="6B4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636154" y="2506260"/>
            <a:ext cx="1150315" cy="97438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636154" y="2766096"/>
            <a:ext cx="1014984" cy="97438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636154" y="3025932"/>
            <a:ext cx="1116482" cy="97438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636154" y="3285768"/>
            <a:ext cx="710488" cy="97438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65492" y="3253288"/>
            <a:ext cx="1691640" cy="73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0" i="0">
                <a:solidFill>
                  <a:srgbClr val="6B4A34"/>
                </a:solidFill>
                <a:latin typeface="Calibri"/>
              </a:rPr>
              <a:t>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5207" y="4572000"/>
            <a:ext cx="10241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3E2C1E"/>
                </a:solidFill>
                <a:latin typeface="Georgia"/>
              </a:rPr>
              <a:t>Identical Japanese résumés — only the name differs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38247" y="523036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 spc="260">
                <a:solidFill>
                  <a:srgbClr val="A9744F"/>
                </a:solidFill>
                <a:latin typeface="Calibri"/>
              </a:rPr>
              <a:t>FIVE AI MODELS SCORED EACH RÉSUMÉ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26083" y="5650992"/>
            <a:ext cx="1783080" cy="658368"/>
          </a:xfrm>
          <a:prstGeom prst="roundRect">
            <a:avLst>
              <a:gd name="adj" fmla="val 50000"/>
            </a:avLst>
          </a:prstGeom>
          <a:solidFill>
            <a:srgbClr val="FCF7EF"/>
          </a:solidFill>
          <a:ln w="15240">
            <a:solidFill>
              <a:srgbClr val="E4D5C0"/>
            </a:solidFill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363827" y="5916168"/>
            <a:ext cx="137160" cy="137160"/>
          </a:xfrm>
          <a:prstGeom prst="ellipse">
            <a:avLst/>
          </a:prstGeom>
          <a:solidFill>
            <a:srgbClr val="B05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91843" y="5650992"/>
            <a:ext cx="1325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6B4A34"/>
                </a:solidFill>
                <a:latin typeface="Calibri"/>
              </a:rPr>
              <a:t>ChatGPT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165195" y="5650992"/>
            <a:ext cx="1783080" cy="658368"/>
          </a:xfrm>
          <a:prstGeom prst="roundRect">
            <a:avLst>
              <a:gd name="adj" fmla="val 50000"/>
            </a:avLst>
          </a:prstGeom>
          <a:solidFill>
            <a:srgbClr val="FCF7EF"/>
          </a:solidFill>
          <a:ln w="15240">
            <a:solidFill>
              <a:srgbClr val="E4D5C0"/>
            </a:solidFill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402939" y="5916168"/>
            <a:ext cx="137160" cy="137160"/>
          </a:xfrm>
          <a:prstGeom prst="ellipse">
            <a:avLst/>
          </a:prstGeom>
          <a:solidFill>
            <a:srgbClr val="A9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0955" y="5650992"/>
            <a:ext cx="1325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6B4A34"/>
                </a:solidFill>
                <a:latin typeface="Calibri"/>
              </a:rPr>
              <a:t>Claude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204307" y="5650992"/>
            <a:ext cx="1783080" cy="658368"/>
          </a:xfrm>
          <a:prstGeom prst="roundRect">
            <a:avLst>
              <a:gd name="adj" fmla="val 50000"/>
            </a:avLst>
          </a:prstGeom>
          <a:solidFill>
            <a:srgbClr val="FCF7EF"/>
          </a:solidFill>
          <a:ln w="15240">
            <a:solidFill>
              <a:srgbClr val="E4D5C0"/>
            </a:solidFill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442051" y="5916168"/>
            <a:ext cx="137160" cy="137160"/>
          </a:xfrm>
          <a:prstGeom prst="ellipse">
            <a:avLst/>
          </a:prstGeom>
          <a:solidFill>
            <a:srgbClr val="B05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70067" y="5650992"/>
            <a:ext cx="1325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6B4A34"/>
                </a:solidFill>
                <a:latin typeface="Calibri"/>
              </a:rPr>
              <a:t>Gemini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243419" y="5650992"/>
            <a:ext cx="1783080" cy="658368"/>
          </a:xfrm>
          <a:prstGeom prst="roundRect">
            <a:avLst>
              <a:gd name="adj" fmla="val 50000"/>
            </a:avLst>
          </a:prstGeom>
          <a:solidFill>
            <a:srgbClr val="FCF7EF"/>
          </a:solidFill>
          <a:ln w="15240">
            <a:solidFill>
              <a:srgbClr val="E4D5C0"/>
            </a:solidFill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481163" y="5916168"/>
            <a:ext cx="137160" cy="137160"/>
          </a:xfrm>
          <a:prstGeom prst="ellipse">
            <a:avLst/>
          </a:prstGeom>
          <a:solidFill>
            <a:srgbClr val="A9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09179" y="5650992"/>
            <a:ext cx="1325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6B4A34"/>
                </a:solidFill>
                <a:latin typeface="Calibri"/>
              </a:rPr>
              <a:t>DeepSeek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282531" y="5650992"/>
            <a:ext cx="1783080" cy="658368"/>
          </a:xfrm>
          <a:prstGeom prst="roundRect">
            <a:avLst>
              <a:gd name="adj" fmla="val 50000"/>
            </a:avLst>
          </a:prstGeom>
          <a:solidFill>
            <a:srgbClr val="FCF7EF"/>
          </a:solidFill>
          <a:ln w="15240">
            <a:solidFill>
              <a:srgbClr val="E4D5C0"/>
            </a:solidFill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520275" y="5916168"/>
            <a:ext cx="137160" cy="137160"/>
          </a:xfrm>
          <a:prstGeom prst="ellipse">
            <a:avLst/>
          </a:prstGeom>
          <a:solidFill>
            <a:srgbClr val="B05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48291" y="5650992"/>
            <a:ext cx="1325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6B4A34"/>
                </a:solidFill>
                <a:latin typeface="Calibri"/>
              </a:rPr>
              <a:t>Llama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803136"/>
            <a:ext cx="1978429" cy="54864"/>
          </a:xfrm>
          <a:prstGeom prst="rect">
            <a:avLst/>
          </a:prstGeom>
          <a:solidFill>
            <a:srgbClr val="A9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048695" y="6355080"/>
            <a:ext cx="914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9B8571"/>
                </a:solidFill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5EDDF"/>
              </a:gs>
              <a:gs pos="100000">
                <a:srgbClr val="E7D3B8"/>
              </a:gs>
            </a:gsLst>
            <a:lin scaled="0" ang="14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438247" y="56692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 spc="420">
                <a:solidFill>
                  <a:srgbClr val="B0563A"/>
                </a:solidFill>
                <a:latin typeface="Calibri"/>
              </a:rPr>
              <a:t>THE RESULT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03239" y="987552"/>
            <a:ext cx="585216" cy="0"/>
          </a:xfrm>
          <a:prstGeom prst="bentConnector3">
            <a:avLst/>
          </a:prstGeom>
          <a:ln w="27940">
            <a:solidFill>
              <a:srgbClr val="B056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3268979" y="2745028"/>
            <a:ext cx="1783080" cy="2282342"/>
          </a:xfrm>
          <a:prstGeom prst="roundRect">
            <a:avLst>
              <a:gd name="adj" fmla="val 9000"/>
            </a:avLst>
          </a:prstGeom>
          <a:solidFill>
            <a:srgbClr val="FCF7EF"/>
          </a:solidFill>
          <a:ln w="16510">
            <a:solidFill>
              <a:srgbClr val="E4D5C0"/>
            </a:solidFill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554272" y="3030321"/>
            <a:ext cx="891540" cy="125528"/>
          </a:xfrm>
          <a:prstGeom prst="roundRect">
            <a:avLst>
              <a:gd name="adj" fmla="val 50000"/>
            </a:avLst>
          </a:prstGeom>
          <a:solidFill>
            <a:srgbClr val="6B4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554272" y="3395496"/>
            <a:ext cx="1212494" cy="102705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554272" y="3669377"/>
            <a:ext cx="1069848" cy="102705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554272" y="3943258"/>
            <a:ext cx="1176832" cy="102705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554272" y="4217139"/>
            <a:ext cx="748893" cy="102705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68979" y="4182904"/>
            <a:ext cx="1783080" cy="7759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0" i="0">
                <a:solidFill>
                  <a:srgbClr val="6B4A34"/>
                </a:solidFill>
                <a:latin typeface="Calibri"/>
              </a:rPr>
              <a:t>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46120" y="5303520"/>
            <a:ext cx="1828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 spc="160">
                <a:solidFill>
                  <a:srgbClr val="9B8571"/>
                </a:solidFill>
                <a:latin typeface="Calibri"/>
              </a:rPr>
              <a:t>MALE NAME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76872" y="2212848"/>
            <a:ext cx="2048256" cy="2340864"/>
          </a:xfrm>
          <a:prstGeom prst="roundRect">
            <a:avLst>
              <a:gd name="adj" fmla="val 12000"/>
            </a:avLst>
          </a:prstGeom>
          <a:solidFill>
            <a:srgbClr val="F1DED3"/>
          </a:solidFill>
          <a:ln>
            <a:noFill/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109460" y="2242108"/>
            <a:ext cx="1783080" cy="2282342"/>
          </a:xfrm>
          <a:prstGeom prst="roundRect">
            <a:avLst>
              <a:gd name="adj" fmla="val 9000"/>
            </a:avLst>
          </a:prstGeom>
          <a:solidFill>
            <a:srgbClr val="FCF7EF"/>
          </a:solidFill>
          <a:ln w="16510">
            <a:solidFill>
              <a:srgbClr val="E4D5C0"/>
            </a:solidFill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94752" y="2527401"/>
            <a:ext cx="891540" cy="125528"/>
          </a:xfrm>
          <a:prstGeom prst="roundRect">
            <a:avLst>
              <a:gd name="adj" fmla="val 50000"/>
            </a:avLst>
          </a:prstGeom>
          <a:solidFill>
            <a:srgbClr val="B05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94752" y="2892576"/>
            <a:ext cx="1212494" cy="102705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394752" y="3166457"/>
            <a:ext cx="1069848" cy="102705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394752" y="3440338"/>
            <a:ext cx="1176832" cy="102705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394752" y="3714219"/>
            <a:ext cx="748893" cy="102705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09460" y="3679984"/>
            <a:ext cx="1783080" cy="7759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0" i="0">
                <a:solidFill>
                  <a:srgbClr val="B0563A"/>
                </a:solidFill>
                <a:latin typeface="Calibri"/>
              </a:rPr>
              <a:t>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43800" y="1783080"/>
            <a:ext cx="914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 i="0">
                <a:solidFill>
                  <a:srgbClr val="B0563A"/>
                </a:solidFill>
                <a:latin typeface="Calibri"/>
              </a:rPr>
              <a:t>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95160" y="4800600"/>
            <a:ext cx="20116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 spc="160">
                <a:solidFill>
                  <a:srgbClr val="B0563A"/>
                </a:solidFill>
                <a:latin typeface="Calibri"/>
              </a:rPr>
              <a:t>FEMALE NAME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0887" y="5623560"/>
            <a:ext cx="107899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500" b="1" i="0">
                <a:solidFill>
                  <a:srgbClr val="3E2C1E"/>
                </a:solidFill>
                <a:latin typeface="Georgia"/>
              </a:rPr>
              <a:t>Female names scored </a:t>
            </a:r>
            <a:r>
              <a:rPr sz="2500" b="1" i="0">
                <a:solidFill>
                  <a:srgbClr val="B0563A"/>
                </a:solidFill>
                <a:latin typeface="Georgia"/>
              </a:rPr>
              <a:t>slightly higher</a:t>
            </a:r>
            <a:r>
              <a:rPr sz="2500" b="1" i="0">
                <a:solidFill>
                  <a:srgbClr val="3E2C1E"/>
                </a:solidFill>
                <a:latin typeface="Georgia"/>
              </a:rPr>
              <a:t> — same résumé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803136"/>
            <a:ext cx="2227810" cy="54864"/>
          </a:xfrm>
          <a:prstGeom prst="rect">
            <a:avLst/>
          </a:prstGeom>
          <a:solidFill>
            <a:srgbClr val="B05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048695" y="6355080"/>
            <a:ext cx="914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9B8571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5EDDF"/>
              </a:gs>
              <a:gs pos="100000">
                <a:srgbClr val="E7D3B8"/>
              </a:gs>
            </a:gsLst>
            <a:lin scaled="0" ang="14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438247" y="56692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 spc="420">
                <a:solidFill>
                  <a:srgbClr val="A9744F"/>
                </a:solidFill>
                <a:latin typeface="Calibri"/>
              </a:rPr>
              <a:t>FIX 1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03239" y="987552"/>
            <a:ext cx="585216" cy="0"/>
          </a:xfrm>
          <a:prstGeom prst="bentConnector3">
            <a:avLst/>
          </a:prstGeom>
          <a:ln w="27940">
            <a:solidFill>
              <a:srgbClr val="A974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2895447" y="2148840"/>
            <a:ext cx="6400800" cy="914400"/>
          </a:xfrm>
          <a:prstGeom prst="roundRect">
            <a:avLst>
              <a:gd name="adj" fmla="val 50000"/>
            </a:avLst>
          </a:prstGeom>
          <a:solidFill>
            <a:srgbClr val="FCF7EF"/>
          </a:solidFill>
          <a:ln w="15240">
            <a:solidFill>
              <a:srgbClr val="E4D5C0"/>
            </a:solidFill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895447" y="2148840"/>
            <a:ext cx="64008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1">
                <a:solidFill>
                  <a:srgbClr val="3E2C1E"/>
                </a:solidFill>
                <a:latin typeface="Georgia"/>
              </a:rPr>
              <a:t>“Ignore the name and gender.”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32807" y="3703320"/>
            <a:ext cx="292608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0" b="1" i="0">
                <a:solidFill>
                  <a:srgbClr val="B0563A"/>
                </a:solidFill>
                <a:latin typeface="Calibri"/>
              </a:rPr>
              <a:t>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49527" y="5303520"/>
            <a:ext cx="9692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3E2C1E"/>
                </a:solidFill>
                <a:latin typeface="Georgia"/>
              </a:rPr>
              <a:t>Barely changed — the bias remained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803136"/>
            <a:ext cx="2477192" cy="54864"/>
          </a:xfrm>
          <a:prstGeom prst="rect">
            <a:avLst/>
          </a:prstGeom>
          <a:solidFill>
            <a:srgbClr val="A9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48695" y="6355080"/>
            <a:ext cx="914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9B8571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5EDDF"/>
              </a:gs>
              <a:gs pos="100000">
                <a:srgbClr val="E7D3B8"/>
              </a:gs>
            </a:gsLst>
            <a:lin scaled="0" ang="14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438247" y="56692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 spc="420">
                <a:solidFill>
                  <a:srgbClr val="BE932E"/>
                </a:solidFill>
                <a:latin typeface="Calibri"/>
              </a:rPr>
              <a:t>FIX 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03239" y="987552"/>
            <a:ext cx="585216" cy="0"/>
          </a:xfrm>
          <a:prstGeom prst="bentConnector3">
            <a:avLst/>
          </a:prstGeom>
          <a:ln w="27940">
            <a:solidFill>
              <a:srgbClr val="BE93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1798167" y="2286000"/>
            <a:ext cx="3200400" cy="914400"/>
          </a:xfrm>
          <a:prstGeom prst="roundRect">
            <a:avLst>
              <a:gd name="adj" fmla="val 28000"/>
            </a:avLst>
          </a:prstGeom>
          <a:solidFill>
            <a:srgbClr val="F1DED3"/>
          </a:solidFill>
          <a:ln>
            <a:noFill/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98167" y="2286000"/>
            <a:ext cx="3200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B0563A"/>
                </a:solidFill>
                <a:latin typeface="Calibri"/>
              </a:rPr>
              <a:t>Haruto Sato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638647" y="2578608"/>
            <a:ext cx="914400" cy="329184"/>
          </a:xfrm>
          <a:prstGeom prst="rightArrow">
            <a:avLst>
              <a:gd name="adj1" fmla="val 55000"/>
              <a:gd name="adj2" fmla="val 50000"/>
            </a:avLst>
          </a:prstGeom>
          <a:solidFill>
            <a:srgbClr val="9B85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193127" y="2286000"/>
            <a:ext cx="3200400" cy="914400"/>
          </a:xfrm>
          <a:prstGeom prst="roundRect">
            <a:avLst>
              <a:gd name="adj" fmla="val 28000"/>
            </a:avLst>
          </a:prstGeom>
          <a:solidFill>
            <a:srgbClr val="F1E7C8"/>
          </a:solidFill>
          <a:ln>
            <a:noFill/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93127" y="2286000"/>
            <a:ext cx="3200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6B4A34"/>
                </a:solidFill>
                <a:latin typeface="Consolas"/>
              </a:rPr>
              <a:t>[PRIVATE_PERSON]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32807" y="3794760"/>
            <a:ext cx="292608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0" b="1" i="0">
                <a:solidFill>
                  <a:srgbClr val="BE932E"/>
                </a:solidFill>
                <a:latin typeface="Calibr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3767" y="5349240"/>
            <a:ext cx="104241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3E2C1E"/>
                </a:solidFill>
                <a:latin typeface="Georgia"/>
              </a:rPr>
              <a:t>Remove the name → the difference almost disappears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803136"/>
            <a:ext cx="2726574" cy="54864"/>
          </a:xfrm>
          <a:prstGeom prst="rect">
            <a:avLst/>
          </a:prstGeom>
          <a:solidFill>
            <a:srgbClr val="BE9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48695" y="6355080"/>
            <a:ext cx="914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9B8571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FE1D3"/>
              </a:gs>
              <a:gs pos="100000">
                <a:srgbClr val="E7D3B8"/>
              </a:gs>
            </a:gsLst>
            <a:lin scaled="0" ang="14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438247" y="56692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 spc="420">
                <a:solidFill>
                  <a:srgbClr val="A9744F"/>
                </a:solidFill>
                <a:latin typeface="Calibri"/>
              </a:rPr>
              <a:t>WHY IT HAPPENS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03239" y="987552"/>
            <a:ext cx="585216" cy="0"/>
          </a:xfrm>
          <a:prstGeom prst="bentConnector3">
            <a:avLst/>
          </a:prstGeom>
          <a:ln w="27940">
            <a:solidFill>
              <a:srgbClr val="A974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Isosceles Triangle 4"/>
          <p:cNvSpPr/>
          <p:nvPr/>
        </p:nvSpPr>
        <p:spPr>
          <a:xfrm>
            <a:off x="5592927" y="3017520"/>
            <a:ext cx="1005840" cy="868680"/>
          </a:xfrm>
          <a:prstGeom prst="triangle">
            <a:avLst/>
          </a:prstGeom>
          <a:solidFill>
            <a:srgbClr val="6B4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013551" y="2423160"/>
            <a:ext cx="164592" cy="685800"/>
          </a:xfrm>
          <a:prstGeom prst="roundRect">
            <a:avLst>
              <a:gd name="adj" fmla="val 50000"/>
            </a:avLst>
          </a:prstGeom>
          <a:solidFill>
            <a:srgbClr val="6B4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 rot="540000">
            <a:off x="3947007" y="2798064"/>
            <a:ext cx="4297680" cy="164592"/>
          </a:xfrm>
          <a:prstGeom prst="roundRect">
            <a:avLst>
              <a:gd name="adj" fmla="val 50000"/>
            </a:avLst>
          </a:prstGeom>
          <a:solidFill>
            <a:srgbClr val="A9744F"/>
          </a:solidFill>
          <a:ln>
            <a:noFill/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3973463" y="2544207"/>
            <a:ext cx="0" cy="868680"/>
          </a:xfrm>
          <a:prstGeom prst="bentConnector3">
            <a:avLst/>
          </a:prstGeom>
          <a:ln w="20320">
            <a:solidFill>
              <a:srgbClr val="6B4A3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406535" y="3412887"/>
            <a:ext cx="1133856" cy="109728"/>
          </a:xfrm>
          <a:prstGeom prst="roundRect">
            <a:avLst>
              <a:gd name="adj" fmla="val 50000"/>
            </a:avLst>
          </a:prstGeom>
          <a:solidFill>
            <a:srgbClr val="CDA07E"/>
          </a:solidFill>
          <a:ln>
            <a:noFill/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41943" y="2544207"/>
            <a:ext cx="14630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800" b="1" i="0">
                <a:solidFill>
                  <a:srgbClr val="6B4A34"/>
                </a:solidFill>
                <a:latin typeface="Calibri"/>
              </a:rPr>
              <a:t>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18231" y="3216512"/>
            <a:ext cx="0" cy="868680"/>
          </a:xfrm>
          <a:prstGeom prst="bentConnector3">
            <a:avLst/>
          </a:prstGeom>
          <a:ln w="20320">
            <a:solidFill>
              <a:srgbClr val="6B4A3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651303" y="4085192"/>
            <a:ext cx="1133856" cy="109728"/>
          </a:xfrm>
          <a:prstGeom prst="roundRect">
            <a:avLst>
              <a:gd name="adj" fmla="val 50000"/>
            </a:avLst>
          </a:prstGeom>
          <a:solidFill>
            <a:srgbClr val="CDA07E"/>
          </a:solidFill>
          <a:ln>
            <a:noFill/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86711" y="3216512"/>
            <a:ext cx="14630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800" b="1" i="0">
                <a:solidFill>
                  <a:srgbClr val="B0563A"/>
                </a:solidFill>
                <a:latin typeface="Calibri"/>
              </a:rPr>
              <a:t>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887" y="5486400"/>
            <a:ext cx="107899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4000"/>
              </a:lnSpc>
            </a:pPr>
            <a:r>
              <a:rPr sz="2300" b="1" i="0">
                <a:solidFill>
                  <a:srgbClr val="3E2C1E"/>
                </a:solidFill>
                <a:latin typeface="Georgia"/>
              </a:rPr>
              <a:t>Fairness training may over-correct — tipping slightly toward women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803136"/>
            <a:ext cx="2975956" cy="54864"/>
          </a:xfrm>
          <a:prstGeom prst="rect">
            <a:avLst/>
          </a:prstGeom>
          <a:solidFill>
            <a:srgbClr val="A9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48695" y="6355080"/>
            <a:ext cx="914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9B8571"/>
                </a:solidFill>
                <a:latin typeface="Calibr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5EDDF"/>
              </a:gs>
              <a:gs pos="100000">
                <a:srgbClr val="EFE1D3"/>
              </a:gs>
            </a:gsLst>
            <a:lin scaled="0" ang="14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438247" y="56692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 spc="420">
                <a:solidFill>
                  <a:srgbClr val="A9744F"/>
                </a:solidFill>
                <a:latin typeface="Calibri"/>
              </a:rPr>
              <a:t>THE TAKEAWAY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03239" y="987552"/>
            <a:ext cx="585216" cy="0"/>
          </a:xfrm>
          <a:prstGeom prst="bentConnector3">
            <a:avLst/>
          </a:prstGeom>
          <a:ln w="27940">
            <a:solidFill>
              <a:srgbClr val="A974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00887" y="2286000"/>
            <a:ext cx="10789920" cy="2011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3300" b="1" i="0">
                <a:solidFill>
                  <a:srgbClr val="3E2C1E"/>
                </a:solidFill>
                <a:latin typeface="Georgia"/>
              </a:rPr>
              <a:t>AI may decide who gets an interview</a:t>
            </a:r>
          </a:p>
          <a:p>
            <a:pPr algn="ctr">
              <a:lnSpc>
                <a:spcPct val="114000"/>
              </a:lnSpc>
            </a:pPr>
            <a:r>
              <a:rPr sz="3300" b="1" i="0">
                <a:solidFill>
                  <a:srgbClr val="3E2C1E"/>
                </a:solidFill>
                <a:latin typeface="Georgia"/>
              </a:rPr>
              <a:t/>
            </a:r>
            <a:r>
              <a:rPr sz="3300" b="1" i="0">
                <a:solidFill>
                  <a:srgbClr val="B0563A"/>
                </a:solidFill>
                <a:latin typeface="Georgia"/>
              </a:rPr>
              <a:t>before a human ever sees you.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6647" y="4892040"/>
            <a:ext cx="10058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i="1">
                <a:solidFill>
                  <a:srgbClr val="A9744F"/>
                </a:solidFill>
                <a:latin typeface="Georgia"/>
              </a:rPr>
              <a:t>Test it carefully before we trust it with a career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803136"/>
            <a:ext cx="3225338" cy="54864"/>
          </a:xfrm>
          <a:prstGeom prst="rect">
            <a:avLst/>
          </a:prstGeom>
          <a:solidFill>
            <a:srgbClr val="A9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48695" y="6355080"/>
            <a:ext cx="914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9B8571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5EDDF"/>
              </a:gs>
              <a:gs pos="100000">
                <a:srgbClr val="E7D3B8"/>
              </a:gs>
            </a:gsLst>
            <a:lin scaled="0" ang="14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69767" y="2468880"/>
            <a:ext cx="585216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5800" b="0" i="0">
                <a:solidFill>
                  <a:srgbClr val="B0563A"/>
                </a:solidFill>
                <a:latin typeface="Calibri"/>
              </a:rPr>
              <a:t>♀</a:t>
            </a:r>
            <a:r>
              <a:rPr sz="5800" b="0" i="0">
                <a:solidFill>
                  <a:srgbClr val="3E2C1E"/>
                </a:solidFill>
                <a:latin typeface="Calibri"/>
              </a:rPr>
              <a:t>    </a:t>
            </a:r>
            <a:r>
              <a:rPr sz="5800" b="0" i="0">
                <a:solidFill>
                  <a:srgbClr val="6B4A34"/>
                </a:solidFill>
                <a:latin typeface="Calibri"/>
              </a:rPr>
              <a:t>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23847" y="3749039"/>
            <a:ext cx="91440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800" b="1" i="0">
                <a:solidFill>
                  <a:srgbClr val="3E2C1E"/>
                </a:solidFill>
                <a:latin typeface="Georgia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6647" y="4800600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 spc="160">
                <a:solidFill>
                  <a:srgbClr val="A9744F"/>
                </a:solidFill>
                <a:latin typeface="Calibri"/>
              </a:rPr>
              <a:t>Gender Bias in LLM Hiring Decisions  ·  Evidence from Japan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