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21060000">
            <a:off x="868680" y="114300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480000">
            <a:off x="9646920" y="361188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69767" y="1325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200" b="0" i="0">
                <a:solidFill>
                  <a:srgbClr val="D6749C"/>
                </a:solidFill>
                <a:latin typeface="Calibri"/>
              </a:rPr>
              <a:t>♀</a:t>
            </a:r>
            <a:r>
              <a:rPr sz="6200" b="0" i="0">
                <a:solidFill>
                  <a:srgbClr val="9B8571"/>
                </a:solidFill>
                <a:latin typeface="Calibri"/>
              </a:rPr>
              <a:t>   vs   </a:t>
            </a:r>
            <a:r>
              <a:rPr sz="62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3767" y="2880360"/>
            <a:ext cx="104241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</a:pPr>
            <a:r>
              <a:rPr sz="4000" b="1" i="0">
                <a:solidFill>
                  <a:srgbClr val="3E2C1E"/>
                </a:solidFill>
                <a:latin typeface="Georgia"/>
              </a:rPr>
              <a:t>Gender bias when </a:t>
            </a:r>
            <a:r>
              <a:rPr sz="4000" b="1" i="0">
                <a:solidFill>
                  <a:srgbClr val="B0563A"/>
                </a:solidFill>
                <a:latin typeface="Georgia"/>
              </a:rPr>
              <a:t>AI</a:t>
            </a:r>
            <a:r>
              <a:rPr sz="4000" b="1" i="0">
                <a:solidFill>
                  <a:srgbClr val="3E2C1E"/>
                </a:solidFill>
                <a:latin typeface="Georgia"/>
              </a:rPr>
              <a:t> screens résumés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8006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 spc="340">
                <a:solidFill>
                  <a:srgbClr val="A9744F"/>
                </a:solidFill>
                <a:latin typeface="Calibri"/>
              </a:rPr>
              <a:t>JAPANESE HIRING   ·   5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SETUP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2226564" y="2606040"/>
            <a:ext cx="576072" cy="576072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1897380" y="3264408"/>
            <a:ext cx="1234440" cy="1097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3611880" y="3218688"/>
            <a:ext cx="82296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53304" y="2564892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CF7EF"/>
          </a:solidFill>
          <a:ln w="2540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81904" y="2793492"/>
            <a:ext cx="453542" cy="453542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77179" y="2793492"/>
            <a:ext cx="105156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77179" y="2977743"/>
            <a:ext cx="128016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77179" y="3161995"/>
            <a:ext cx="9144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81904" y="3386937"/>
            <a:ext cx="16002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81904" y="3599535"/>
            <a:ext cx="13716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78984" y="4000500"/>
            <a:ext cx="2834640" cy="128016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214" y="3262122"/>
            <a:ext cx="685800" cy="685800"/>
          </a:xfrm>
          <a:prstGeom prst="ellipse">
            <a:avLst/>
          </a:prstGeom>
          <a:solidFill>
            <a:srgbClr val="FCF7EF"/>
          </a:solidFill>
          <a:ln w="38100">
            <a:solidFill>
              <a:srgbClr val="B0563A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081570" y="3824478"/>
            <a:ext cx="274320" cy="274320"/>
          </a:xfrm>
          <a:prstGeom prst="bentConnector3">
            <a:avLst/>
          </a:prstGeom>
          <a:ln w="406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7772400" y="3218688"/>
            <a:ext cx="82296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04604" y="2606040"/>
            <a:ext cx="576072" cy="576072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9075419" y="3264408"/>
            <a:ext cx="1234440" cy="1097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297680"/>
            <a:ext cx="2560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240">
                <a:solidFill>
                  <a:srgbClr val="9B8571"/>
                </a:solidFill>
                <a:latin typeface="Calibri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384" y="4617720"/>
            <a:ext cx="3291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240">
                <a:solidFill>
                  <a:srgbClr val="A9744F"/>
                </a:solidFill>
                <a:latin typeface="Calibri"/>
              </a:rPr>
              <a:t>AI SCREENS 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297680"/>
            <a:ext cx="2560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240">
                <a:solidFill>
                  <a:srgbClr val="9B8571"/>
                </a:solidFill>
                <a:latin typeface="Calibri"/>
              </a:rPr>
              <a:t>RECRUITER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8087" y="5212080"/>
            <a:ext cx="9875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AI screens your résumé before a human ever sees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80160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WHAT IS AN LLM?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446020" y="2631186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EEDFCB"/>
          </a:solidFill>
          <a:ln w="15240">
            <a:solidFill>
              <a:srgbClr val="A9744F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5981" y="2743657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6020" y="3193541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DED3"/>
          </a:solidFill>
          <a:ln w="15240">
            <a:solidFill>
              <a:srgbClr val="B0563A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95981" y="3306013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6020" y="3755898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E7C8"/>
          </a:solidFill>
          <a:ln w="1524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95981" y="3868369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23459" y="3310127"/>
            <a:ext cx="96012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452360" y="2542946"/>
            <a:ext cx="0" cy="237744"/>
          </a:xfrm>
          <a:prstGeom prst="bentConnector3">
            <a:avLst/>
          </a:prstGeom>
          <a:ln w="2794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370064" y="2396642"/>
            <a:ext cx="164592" cy="164592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780690"/>
            <a:ext cx="1737360" cy="1424635"/>
          </a:xfrm>
          <a:prstGeom prst="roundRect">
            <a:avLst>
              <a:gd name="adj" fmla="val 20000"/>
            </a:avLst>
          </a:prstGeom>
          <a:solidFill>
            <a:srgbClr val="FCF7EF"/>
          </a:solidFill>
          <a:ln w="27940">
            <a:solidFill>
              <a:srgbClr val="A9744F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39838" y="3407529"/>
            <a:ext cx="260603" cy="260603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04277" y="3407529"/>
            <a:ext cx="260603" cy="260603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04888" y="3777935"/>
            <a:ext cx="694944" cy="99724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140">
                <a:solidFill>
                  <a:srgbClr val="5A4433"/>
                </a:solidFill>
                <a:latin typeface="Calibri"/>
              </a:rPr>
              <a:t>TRAINED ON HUMAN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140">
                <a:solidFill>
                  <a:srgbClr val="5A4433"/>
                </a:solidFill>
                <a:latin typeface="Calibri"/>
              </a:rPr>
              <a:t>LEARNS THE PATTERNS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03136"/>
            <a:ext cx="1554480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0563A"/>
                </a:solidFill>
                <a:latin typeface="Calibri"/>
              </a:rPr>
              <a:t>THE CHALLENGE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20040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60604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47007" y="298094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4700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007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548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4468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7775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316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5767" y="1234440"/>
            <a:ext cx="1280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 i="0">
                <a:solidFill>
                  <a:srgbClr val="B0563A"/>
                </a:solidFill>
                <a:latin typeface="Georgi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207" y="5440680"/>
            <a:ext cx="10241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If AI learns from people, could it learn our bias?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828800" cy="54864"/>
          </a:xfrm>
          <a:prstGeom prst="rect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145535" y="1798624"/>
            <a:ext cx="1664208" cy="216347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566" y="2048255"/>
            <a:ext cx="532546" cy="596452"/>
          </a:xfrm>
          <a:prstGeom prst="roundRect">
            <a:avLst>
              <a:gd name="adj" fmla="val 12000"/>
            </a:avLst>
          </a:prstGeom>
          <a:solidFill>
            <a:srgbClr val="D6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87330" y="2122812"/>
            <a:ext cx="213018" cy="213018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112773" y="2357133"/>
            <a:ext cx="362131" cy="18106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5167" y="2075687"/>
            <a:ext cx="665683" cy="129808"/>
          </a:xfrm>
          <a:prstGeom prst="roundRect">
            <a:avLst>
              <a:gd name="adj" fmla="val 50000"/>
            </a:avLst>
          </a:prstGeom>
          <a:solidFill>
            <a:srgbClr val="D6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5167" y="2372776"/>
            <a:ext cx="532546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5167" y="2772186"/>
            <a:ext cx="1198229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5167" y="3031802"/>
            <a:ext cx="1065093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5167" y="3291419"/>
            <a:ext cx="1131661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5" y="3442862"/>
            <a:ext cx="1664208" cy="5625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0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1447" y="237744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9B8571"/>
                </a:solidFill>
                <a:latin typeface="Georgia"/>
              </a:rPr>
              <a:t>=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1798624"/>
            <a:ext cx="1664208" cy="216347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1238" y="2048255"/>
            <a:ext cx="532546" cy="596452"/>
          </a:xfrm>
          <a:prstGeom prst="roundRect">
            <a:avLst>
              <a:gd name="adj" fmla="val 12000"/>
            </a:avLst>
          </a:prstGeom>
          <a:solidFill>
            <a:srgbClr val="6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21002" y="2122812"/>
            <a:ext cx="213018" cy="213018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8346445" y="2357133"/>
            <a:ext cx="362131" cy="18106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8839" y="2075687"/>
            <a:ext cx="665683" cy="129808"/>
          </a:xfrm>
          <a:prstGeom prst="roundRect">
            <a:avLst>
              <a:gd name="adj" fmla="val 50000"/>
            </a:avLst>
          </a:prstGeom>
          <a:solidFill>
            <a:srgbClr val="6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8839" y="2372776"/>
            <a:ext cx="532546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28839" y="2772186"/>
            <a:ext cx="1198229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28839" y="3031802"/>
            <a:ext cx="1065093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28839" y="3291419"/>
            <a:ext cx="1131661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9208" y="3442862"/>
            <a:ext cx="1664208" cy="5625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207" y="457200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3E2C1E"/>
                </a:solidFill>
                <a:latin typeface="Georgia"/>
              </a:rPr>
              <a:t>Identical Japanese résumés — only the name differs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247" y="523036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 spc="260">
                <a:solidFill>
                  <a:srgbClr val="A9744F"/>
                </a:solidFill>
                <a:latin typeface="Calibri"/>
              </a:rPr>
              <a:t>FIVE AI MODELS SCORED EACH RÉSUMÉ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26083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63827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91843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ChatGPT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5195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02939" y="5916168"/>
            <a:ext cx="137160" cy="137160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0955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Claude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04307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42051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0067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Gemini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43419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481163" y="5916168"/>
            <a:ext cx="137160" cy="137160"/>
          </a:xfrm>
          <a:prstGeom prst="ellipse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9179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DeepSeek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2531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20275" y="5916168"/>
            <a:ext cx="137160" cy="137160"/>
          </a:xfrm>
          <a:prstGeom prst="ellipse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8291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6B4A34"/>
                </a:solidFill>
                <a:latin typeface="Calibri"/>
              </a:rPr>
              <a:t>Llama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803136"/>
            <a:ext cx="2103120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0563A"/>
                </a:solidFill>
                <a:latin typeface="Calibri"/>
              </a:rPr>
              <a:t>THE RESULT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056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39" y="2665476"/>
            <a:ext cx="1737360" cy="2258568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12640" y="2926080"/>
            <a:ext cx="555955" cy="622669"/>
          </a:xfrm>
          <a:prstGeom prst="roundRect">
            <a:avLst>
              <a:gd name="adj" fmla="val 12000"/>
            </a:avLst>
          </a:prstGeom>
          <a:solidFill>
            <a:srgbClr val="6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79427" y="3003913"/>
            <a:ext cx="222382" cy="222382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301593" y="3248534"/>
            <a:ext cx="378049" cy="18902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52444" y="2953512"/>
            <a:ext cx="694944" cy="135514"/>
          </a:xfrm>
          <a:prstGeom prst="roundRect">
            <a:avLst>
              <a:gd name="adj" fmla="val 50000"/>
            </a:avLst>
          </a:prstGeom>
          <a:solidFill>
            <a:srgbClr val="6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52444" y="3264865"/>
            <a:ext cx="555955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52444" y="3681831"/>
            <a:ext cx="1250899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2444" y="3952859"/>
            <a:ext cx="1111910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2444" y="4223887"/>
            <a:ext cx="1181404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39" y="4381987"/>
            <a:ext cx="1737360" cy="587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525780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160">
                <a:solidFill>
                  <a:srgbClr val="6E8FC0"/>
                </a:solidFill>
                <a:latin typeface="Calibri"/>
              </a:rPr>
              <a:t>MALE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2057400"/>
            <a:ext cx="2048256" cy="2432304"/>
          </a:xfrm>
          <a:prstGeom prst="roundRect">
            <a:avLst>
              <a:gd name="adj" fmla="val 12000"/>
            </a:avLst>
          </a:prstGeom>
          <a:solidFill>
            <a:srgbClr val="F3DDE7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2162556"/>
            <a:ext cx="1737360" cy="2258568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53120" y="2423160"/>
            <a:ext cx="555955" cy="622669"/>
          </a:xfrm>
          <a:prstGeom prst="roundRect">
            <a:avLst>
              <a:gd name="adj" fmla="val 12000"/>
            </a:avLst>
          </a:prstGeom>
          <a:solidFill>
            <a:srgbClr val="D6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9907" y="2500993"/>
            <a:ext cx="222382" cy="222382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142073" y="2745614"/>
            <a:ext cx="378049" cy="18902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92923" y="2450592"/>
            <a:ext cx="694944" cy="135514"/>
          </a:xfrm>
          <a:prstGeom prst="roundRect">
            <a:avLst>
              <a:gd name="adj" fmla="val 50000"/>
            </a:avLst>
          </a:prstGeom>
          <a:solidFill>
            <a:srgbClr val="D6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92923" y="2761945"/>
            <a:ext cx="555955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3" y="3178911"/>
            <a:ext cx="1250899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92923" y="3449939"/>
            <a:ext cx="1111910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92923" y="3720967"/>
            <a:ext cx="1181404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3879067"/>
            <a:ext cx="1737360" cy="587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1719072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D6749C"/>
                </a:solidFill>
                <a:latin typeface="Calibri"/>
              </a:rPr>
              <a:t>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70916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 spc="160">
                <a:solidFill>
                  <a:srgbClr val="D6749C"/>
                </a:solidFill>
                <a:latin typeface="Calibri"/>
              </a:rPr>
              <a:t>FEMALE NAME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887" y="562356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Female names scored </a:t>
            </a:r>
            <a:r>
              <a:rPr sz="2500" b="1" i="0">
                <a:solidFill>
                  <a:srgbClr val="D6749C"/>
                </a:solidFill>
                <a:latin typeface="Georgia"/>
              </a:rPr>
              <a:t>slightly higher</a:t>
            </a:r>
            <a:r>
              <a:rPr sz="2500" b="1" i="0">
                <a:solidFill>
                  <a:srgbClr val="3E2C1E"/>
                </a:solidFill>
                <a:latin typeface="Georgia"/>
              </a:rPr>
              <a:t> — same résumé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2377439" cy="54864"/>
          </a:xfrm>
          <a:prstGeom prst="rect">
            <a:avLst/>
          </a:prstGeom>
          <a:solidFill>
            <a:srgbClr val="B0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BE932E"/>
                </a:solidFill>
                <a:latin typeface="Calibri"/>
              </a:rPr>
              <a:t>THE FIX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BE93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40" y="1673351"/>
            <a:ext cx="1645920" cy="213969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64177" y="1920239"/>
            <a:ext cx="526694" cy="589897"/>
          </a:xfrm>
          <a:prstGeom prst="roundRect">
            <a:avLst>
              <a:gd name="adj" fmla="val 12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22185" y="1993977"/>
            <a:ext cx="210677" cy="210677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248448" y="2225722"/>
            <a:ext cx="358152" cy="17907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38728" y="1947671"/>
            <a:ext cx="658368" cy="128381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38728" y="2241194"/>
            <a:ext cx="526694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8728" y="2636215"/>
            <a:ext cx="1185062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2892978"/>
            <a:ext cx="1053388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38728" y="3149742"/>
            <a:ext cx="1119225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638647" y="257860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51192" y="1673351"/>
            <a:ext cx="1645920" cy="213969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3529" y="1920239"/>
            <a:ext cx="526694" cy="589897"/>
          </a:xfrm>
          <a:prstGeom prst="roundRect">
            <a:avLst>
              <a:gd name="adj" fmla="val 12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79" y="1947671"/>
            <a:ext cx="658368" cy="128381"/>
          </a:xfrm>
          <a:prstGeom prst="roundRect">
            <a:avLst>
              <a:gd name="adj" fmla="val 3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98079" y="2241194"/>
            <a:ext cx="526694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79" y="2636215"/>
            <a:ext cx="1185062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98079" y="2892978"/>
            <a:ext cx="1053388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3149742"/>
            <a:ext cx="1119225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2" y="3977639"/>
            <a:ext cx="2743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6B4A34"/>
                </a:solidFill>
                <a:latin typeface="Consolas"/>
              </a:rPr>
              <a:t>[PRIVATE_PERSON]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7127" y="4160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 i="0">
                <a:solidFill>
                  <a:srgbClr val="BE932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887" y="5440680"/>
            <a:ext cx="10789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3E2C1E"/>
                </a:solidFill>
                <a:latin typeface="Georgia"/>
              </a:rPr>
              <a:t>Remove the name → the bias disappears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2651759" cy="54864"/>
          </a:xfrm>
          <a:prstGeom prst="rect">
            <a:avLst/>
          </a:prstGeom>
          <a:solidFill>
            <a:srgbClr val="BE9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FE1D3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WHY IT HAPPENS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01752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42316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">
            <a:off x="3947007" y="279806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A9744F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73463" y="2544207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06535" y="3412887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1943" y="2544207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18231" y="3216512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51303" y="4085192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6711" y="3216512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D6749C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887" y="5486400"/>
            <a:ext cx="10789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300" b="1" i="0">
                <a:solidFill>
                  <a:srgbClr val="3E2C1E"/>
                </a:solidFill>
                <a:latin typeface="Georgia"/>
              </a:rPr>
              <a:t>Fairness training may over-correct — tipping slightly toward women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2926080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 spc="420">
                <a:solidFill>
                  <a:srgbClr val="A9744F"/>
                </a:solidFill>
                <a:latin typeface="Calibri"/>
              </a:rPr>
              <a:t>THE TAKEAWAY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A974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00887" y="2286000"/>
            <a:ext cx="107899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3300" b="1" i="0">
                <a:solidFill>
                  <a:srgbClr val="3E2C1E"/>
                </a:solidFill>
                <a:latin typeface="Georgia"/>
              </a:rPr>
              <a:t>AI can be a helpful tool —</a:t>
            </a:r>
          </a:p>
          <a:p>
            <a:pPr algn="ctr">
              <a:lnSpc>
                <a:spcPct val="114000"/>
              </a:lnSpc>
            </a:pPr>
            <a:r>
              <a:rPr sz="3300" b="1" i="0">
                <a:solidFill>
                  <a:srgbClr val="3E2C1E"/>
                </a:solidFill>
                <a:latin typeface="Georgia"/>
              </a:rPr>
              <a:t/>
            </a:r>
            <a:r>
              <a:rPr sz="3300" b="1" i="0">
                <a:solidFill>
                  <a:srgbClr val="B0563A"/>
                </a:solidFill>
                <a:latin typeface="Georgia"/>
              </a:rPr>
              <a:t>don't assume it's always fair.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647" y="489204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1">
                <a:solidFill>
                  <a:srgbClr val="A9744F"/>
                </a:solidFill>
                <a:latin typeface="Georgia"/>
              </a:rPr>
              <a:t>Question its decisions before you trust them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200400" cy="54864"/>
          </a:xfrm>
          <a:prstGeom prst="rect">
            <a:avLst/>
          </a:prstGeom>
          <a:solidFill>
            <a:srgbClr val="A9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B8571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69767" y="2468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0" i="0">
                <a:solidFill>
                  <a:srgbClr val="D6749C"/>
                </a:solidFill>
                <a:latin typeface="Calibri"/>
              </a:rPr>
              <a:t>♀</a:t>
            </a:r>
            <a:r>
              <a:rPr sz="5800" b="0" i="0">
                <a:solidFill>
                  <a:srgbClr val="3E2C1E"/>
                </a:solidFill>
                <a:latin typeface="Calibri"/>
              </a:rPr>
              <a:t>    </a:t>
            </a:r>
            <a:r>
              <a:rPr sz="5800" b="0" i="0">
                <a:solidFill>
                  <a:srgbClr val="6E8FC0"/>
                </a:solidFill>
                <a:latin typeface="Calibri"/>
              </a:rPr>
              <a:t>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749039"/>
            <a:ext cx="9144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3E2C1E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80060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spc="160">
                <a:solidFill>
                  <a:srgbClr val="A9744F"/>
                </a:solidFill>
                <a:latin typeface="Calibri"/>
              </a:rPr>
              <a:t>Gender Bias in LLM Hiring Decisions  ·  Evidence from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