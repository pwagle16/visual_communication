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5EDDF"/>
              </a:gs>
              <a:gs pos="100000">
                <a:srgbClr val="E7D3B8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0119" y="1965960"/>
            <a:ext cx="1828800" cy="2377440"/>
          </a:xfrm>
          <a:prstGeom prst="roundRect">
            <a:avLst>
              <a:gd name="adj" fmla="val 9000"/>
            </a:avLst>
          </a:prstGeom>
          <a:solidFill>
            <a:srgbClr val="FCF7EF"/>
          </a:solidFill>
          <a:ln w="16510">
            <a:solidFill>
              <a:srgbClr val="E4D5C0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929384" y="2240280"/>
            <a:ext cx="585216" cy="655441"/>
          </a:xfrm>
          <a:prstGeom prst="roundRect">
            <a:avLst>
              <a:gd name="adj" fmla="val 12000"/>
            </a:avLst>
          </a:prstGeom>
          <a:solidFill>
            <a:srgbClr val="E96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4948" y="2322210"/>
            <a:ext cx="234086" cy="234086"/>
          </a:xfrm>
          <a:prstGeom prst="ellipse">
            <a:avLst/>
          </a:prstGeom>
          <a:solidFill>
            <a:srgbClr val="F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2023018" y="2579705"/>
            <a:ext cx="397946" cy="19897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4439" y="2267712"/>
            <a:ext cx="731520" cy="142646"/>
          </a:xfrm>
          <a:prstGeom prst="roundRect">
            <a:avLst>
              <a:gd name="adj" fmla="val 50000"/>
            </a:avLst>
          </a:prstGeom>
          <a:solidFill>
            <a:srgbClr val="E96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34439" y="2596896"/>
            <a:ext cx="585216" cy="106984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34439" y="3035808"/>
            <a:ext cx="1316736" cy="106984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34439" y="3321100"/>
            <a:ext cx="1170432" cy="106984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39" y="3606393"/>
            <a:ext cx="1243584" cy="106984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3772814"/>
            <a:ext cx="1828800" cy="6181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176" b="0" i="0">
                <a:solidFill>
                  <a:srgbClr val="E96CA4"/>
                </a:solidFill>
                <a:latin typeface="Calibri"/>
              </a:rPr>
              <a:t>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00032" y="1965960"/>
            <a:ext cx="1828800" cy="2377440"/>
          </a:xfrm>
          <a:prstGeom prst="roundRect">
            <a:avLst>
              <a:gd name="adj" fmla="val 9000"/>
            </a:avLst>
          </a:prstGeom>
          <a:solidFill>
            <a:srgbClr val="FCF7EF"/>
          </a:solidFill>
          <a:ln w="16510">
            <a:solidFill>
              <a:srgbClr val="E4D5C0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69295" y="2240280"/>
            <a:ext cx="585216" cy="655441"/>
          </a:xfrm>
          <a:prstGeom prst="roundRect">
            <a:avLst>
              <a:gd name="adj" fmla="val 12000"/>
            </a:avLst>
          </a:prstGeom>
          <a:solidFill>
            <a:srgbClr val="5A9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44860" y="2322210"/>
            <a:ext cx="234086" cy="234086"/>
          </a:xfrm>
          <a:prstGeom prst="ellipse">
            <a:avLst/>
          </a:prstGeom>
          <a:solidFill>
            <a:srgbClr val="F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10462930" y="2579705"/>
            <a:ext cx="397946" cy="19897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74352" y="2267712"/>
            <a:ext cx="731520" cy="142646"/>
          </a:xfrm>
          <a:prstGeom prst="roundRect">
            <a:avLst>
              <a:gd name="adj" fmla="val 50000"/>
            </a:avLst>
          </a:prstGeom>
          <a:solidFill>
            <a:srgbClr val="5A9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74352" y="2596896"/>
            <a:ext cx="585216" cy="106984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74352" y="3035808"/>
            <a:ext cx="1316736" cy="106984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74352" y="3321100"/>
            <a:ext cx="1170432" cy="106984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74352" y="3606393"/>
            <a:ext cx="1243584" cy="106984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3772814"/>
            <a:ext cx="1828800" cy="6181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176" b="0" i="0">
                <a:solidFill>
                  <a:srgbClr val="5A93DE"/>
                </a:solidFill>
                <a:latin typeface="Calibri"/>
              </a:rPr>
              <a:t>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4007" y="1828800"/>
            <a:ext cx="65836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4523" b="1" i="0">
                <a:solidFill>
                  <a:srgbClr val="3E2C1E"/>
                </a:solidFill>
                <a:latin typeface="Georgia"/>
              </a:rPr>
              <a:t>Gender bias when </a:t>
            </a:r>
            <a:r>
              <a:rPr sz="4523" b="1" i="0">
                <a:solidFill>
                  <a:srgbClr val="CE5A38"/>
                </a:solidFill>
                <a:latin typeface="Georgia"/>
              </a:rPr>
              <a:t>AI</a:t>
            </a:r>
            <a:r>
              <a:rPr sz="4523" b="1" i="0">
                <a:solidFill>
                  <a:srgbClr val="3E2C1E"/>
                </a:solidFill>
                <a:latin typeface="Georgia"/>
              </a:rPr>
              <a:t/>
            </a:r>
          </a:p>
          <a:p>
            <a:pPr algn="ctr">
              <a:lnSpc>
                <a:spcPct val="104000"/>
              </a:lnSpc>
            </a:pPr>
            <a:r>
              <a:rPr sz="4523" b="1" i="0">
                <a:solidFill>
                  <a:srgbClr val="3E2C1E"/>
                </a:solidFill>
                <a:latin typeface="Georgia"/>
              </a:rPr>
              <a:t>screens resumes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4007" y="3749039"/>
            <a:ext cx="6583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91" b="1" i="0" spc="300">
                <a:solidFill>
                  <a:srgbClr val="C18150"/>
                </a:solidFill>
                <a:latin typeface="Calibri"/>
              </a:rPr>
              <a:t>BASED ON THE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2567" y="4114800"/>
            <a:ext cx="67665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507" b="0" i="1">
                <a:solidFill>
                  <a:srgbClr val="3E2C1E"/>
                </a:solidFill>
                <a:latin typeface="Georgia"/>
              </a:rPr>
              <a:t>“Gender Bias in LLM Hiring Decisions: Evidence from a Japanese Context and Evaluation of Mitigation Strategies”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8247" y="5715000"/>
            <a:ext cx="7315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23" b="1" i="0" spc="300">
                <a:solidFill>
                  <a:srgbClr val="C18150"/>
                </a:solidFill>
                <a:latin typeface="Calibri"/>
              </a:rPr>
              <a:t>JAPANESE HIRING   ·   5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5EDDF"/>
              </a:gs>
              <a:gs pos="100000">
                <a:srgbClr val="E7D3B8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38247" y="512064"/>
            <a:ext cx="7315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88" b="1" i="0" spc="420">
                <a:solidFill>
                  <a:srgbClr val="C18150"/>
                </a:solidFill>
                <a:latin typeface="Calibri"/>
              </a:rPr>
              <a:t>THE SETUP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84367" y="1042415"/>
            <a:ext cx="822960" cy="0"/>
          </a:xfrm>
          <a:prstGeom prst="bentConnector3">
            <a:avLst/>
          </a:prstGeom>
          <a:ln w="33020">
            <a:solidFill>
              <a:srgbClr val="C181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226564" y="2606040"/>
            <a:ext cx="576072" cy="576072"/>
          </a:xfrm>
          <a:prstGeom prst="ellipse">
            <a:avLst/>
          </a:prstGeom>
          <a:solidFill>
            <a:srgbClr val="C18150"/>
          </a:solidFill>
          <a:ln>
            <a:noFill/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1897380" y="3264408"/>
            <a:ext cx="1234440" cy="10972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1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3611880" y="3218688"/>
            <a:ext cx="822960" cy="32918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9B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53304" y="2564892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FCF7EF"/>
          </a:solidFill>
          <a:ln w="25400">
            <a:solidFill>
              <a:srgbClr val="6B4A34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81904" y="2793492"/>
            <a:ext cx="453542" cy="453542"/>
          </a:xfrm>
          <a:prstGeom prst="ellipse">
            <a:avLst/>
          </a:prstGeom>
          <a:solidFill>
            <a:srgbClr val="C1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77179" y="2793492"/>
            <a:ext cx="1051560" cy="85039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77179" y="2977743"/>
            <a:ext cx="1280160" cy="85039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77179" y="3161995"/>
            <a:ext cx="914400" cy="85039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81904" y="3386937"/>
            <a:ext cx="1600200" cy="85039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81904" y="3599535"/>
            <a:ext cx="1371600" cy="85039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78984" y="4000500"/>
            <a:ext cx="2834640" cy="128016"/>
          </a:xfrm>
          <a:prstGeom prst="roundRect">
            <a:avLst>
              <a:gd name="adj" fmla="val 50000"/>
            </a:avLst>
          </a:prstGeom>
          <a:solidFill>
            <a:srgbClr val="6B4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214" y="3262122"/>
            <a:ext cx="685800" cy="685800"/>
          </a:xfrm>
          <a:prstGeom prst="ellipse">
            <a:avLst/>
          </a:prstGeom>
          <a:solidFill>
            <a:srgbClr val="FCF7EF"/>
          </a:solidFill>
          <a:ln w="38100">
            <a:solidFill>
              <a:srgbClr val="CE5A38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081570" y="3824478"/>
            <a:ext cx="274320" cy="274320"/>
          </a:xfrm>
          <a:prstGeom prst="bentConnector3">
            <a:avLst/>
          </a:prstGeom>
          <a:ln w="40640">
            <a:solidFill>
              <a:srgbClr val="CE5A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ight Arrow 17"/>
          <p:cNvSpPr/>
          <p:nvPr/>
        </p:nvSpPr>
        <p:spPr>
          <a:xfrm>
            <a:off x="7772400" y="3218688"/>
            <a:ext cx="822960" cy="32918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9B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04604" y="2606040"/>
            <a:ext cx="576072" cy="576072"/>
          </a:xfrm>
          <a:prstGeom prst="ellipse">
            <a:avLst/>
          </a:prstGeom>
          <a:solidFill>
            <a:srgbClr val="6B4A34"/>
          </a:solidFill>
          <a:ln>
            <a:noFill/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9075419" y="3264408"/>
            <a:ext cx="1234440" cy="10972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B4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297680"/>
            <a:ext cx="2560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23" b="1" i="0" spc="240">
                <a:solidFill>
                  <a:srgbClr val="C18150"/>
                </a:solidFill>
                <a:latin typeface="Calibri"/>
              </a:rPr>
              <a:t>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0384" y="4617720"/>
            <a:ext cx="3291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23" b="1" i="0" spc="240">
                <a:solidFill>
                  <a:srgbClr val="CE5A38"/>
                </a:solidFill>
                <a:latin typeface="Calibri"/>
              </a:rPr>
              <a:t>AI SCREENS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2560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23" b="1" i="0" spc="240">
                <a:solidFill>
                  <a:srgbClr val="6B4A34"/>
                </a:solidFill>
                <a:latin typeface="Calibri"/>
              </a:rPr>
              <a:t>RECRUITER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27" y="5029200"/>
            <a:ext cx="11521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3479" b="1" i="0">
                <a:solidFill>
                  <a:srgbClr val="3E2C1E"/>
                </a:solidFill>
                <a:latin typeface="Georgia"/>
              </a:rPr>
              <a:t>AI screens your resume</a:t>
            </a:r>
          </a:p>
          <a:p>
            <a:pPr algn="ctr">
              <a:lnSpc>
                <a:spcPct val="106000"/>
              </a:lnSpc>
            </a:pPr>
            <a:r>
              <a:rPr sz="3479" b="1" i="0">
                <a:solidFill>
                  <a:srgbClr val="3E2C1E"/>
                </a:solidFill>
                <a:latin typeface="Georgia"/>
              </a:rPr>
              <a:t>before a human ever sees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03136"/>
            <a:ext cx="1280160" cy="54864"/>
          </a:xfrm>
          <a:prstGeom prst="rect">
            <a:avLst/>
          </a:prstGeom>
          <a:solidFill>
            <a:srgbClr val="C1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48695" y="6355080"/>
            <a:ext cx="914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76" b="0" i="0">
                <a:solidFill>
                  <a:srgbClr val="9B8571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5EDDF"/>
              </a:gs>
              <a:gs pos="100000">
                <a:srgbClr val="E7D3B8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38247" y="512064"/>
            <a:ext cx="7315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88" b="1" i="0" spc="420">
                <a:solidFill>
                  <a:srgbClr val="C18150"/>
                </a:solidFill>
                <a:latin typeface="Calibri"/>
              </a:rPr>
              <a:t>WHAT IS AN LLM?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84367" y="1042415"/>
            <a:ext cx="822960" cy="0"/>
          </a:xfrm>
          <a:prstGeom prst="bentConnector3">
            <a:avLst/>
          </a:prstGeom>
          <a:ln w="33020">
            <a:solidFill>
              <a:srgbClr val="C181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68979" y="2631186"/>
            <a:ext cx="1874519" cy="374904"/>
          </a:xfrm>
          <a:prstGeom prst="roundRect">
            <a:avLst>
              <a:gd name="adj" fmla="val 40000"/>
            </a:avLst>
          </a:prstGeom>
          <a:solidFill>
            <a:srgbClr val="EEDFCB"/>
          </a:solidFill>
          <a:ln w="15240">
            <a:solidFill>
              <a:srgbClr val="C18150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18941" y="2743657"/>
            <a:ext cx="299923" cy="149961"/>
          </a:xfrm>
          <a:prstGeom prst="roundRect">
            <a:avLst>
              <a:gd name="adj" fmla="val 50000"/>
            </a:avLst>
          </a:prstGeom>
          <a:solidFill>
            <a:srgbClr val="C1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68979" y="3193541"/>
            <a:ext cx="1874519" cy="374904"/>
          </a:xfrm>
          <a:prstGeom prst="roundRect">
            <a:avLst>
              <a:gd name="adj" fmla="val 40000"/>
            </a:avLst>
          </a:prstGeom>
          <a:solidFill>
            <a:srgbClr val="F1DED3"/>
          </a:solidFill>
          <a:ln w="15240">
            <a:solidFill>
              <a:srgbClr val="CE5A38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18941" y="3306013"/>
            <a:ext cx="299923" cy="149961"/>
          </a:xfrm>
          <a:prstGeom prst="roundRect">
            <a:avLst>
              <a:gd name="adj" fmla="val 50000"/>
            </a:avLst>
          </a:prstGeom>
          <a:solidFill>
            <a:srgbClr val="C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68979" y="3755898"/>
            <a:ext cx="1874519" cy="374904"/>
          </a:xfrm>
          <a:prstGeom prst="roundRect">
            <a:avLst>
              <a:gd name="adj" fmla="val 40000"/>
            </a:avLst>
          </a:prstGeom>
          <a:solidFill>
            <a:srgbClr val="F1E7C8"/>
          </a:solidFill>
          <a:ln w="15240">
            <a:solidFill>
              <a:srgbClr val="6B4A34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18941" y="3868369"/>
            <a:ext cx="299923" cy="149961"/>
          </a:xfrm>
          <a:prstGeom prst="roundRect">
            <a:avLst>
              <a:gd name="adj" fmla="val 50000"/>
            </a:avLst>
          </a:prstGeom>
          <a:solidFill>
            <a:srgbClr val="6B4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616244" y="3310127"/>
            <a:ext cx="960120" cy="32918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9B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001000" y="2542946"/>
            <a:ext cx="0" cy="237744"/>
          </a:xfrm>
          <a:prstGeom prst="bentConnector3">
            <a:avLst/>
          </a:prstGeom>
          <a:ln w="27940">
            <a:solidFill>
              <a:srgbClr val="6B4A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918704" y="2396642"/>
            <a:ext cx="164592" cy="164592"/>
          </a:xfrm>
          <a:prstGeom prst="ellipse">
            <a:avLst/>
          </a:prstGeom>
          <a:solidFill>
            <a:srgbClr val="C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2780690"/>
            <a:ext cx="1737360" cy="1424635"/>
          </a:xfrm>
          <a:prstGeom prst="roundRect">
            <a:avLst>
              <a:gd name="adj" fmla="val 20000"/>
            </a:avLst>
          </a:prstGeom>
          <a:solidFill>
            <a:srgbClr val="FCF7EF"/>
          </a:solidFill>
          <a:ln w="27940">
            <a:solidFill>
              <a:srgbClr val="C18150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88478" y="3407529"/>
            <a:ext cx="260603" cy="260603"/>
          </a:xfrm>
          <a:prstGeom prst="ellipse">
            <a:avLst/>
          </a:prstGeom>
          <a:solidFill>
            <a:srgbClr val="C1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52917" y="3407529"/>
            <a:ext cx="260603" cy="260603"/>
          </a:xfrm>
          <a:prstGeom prst="ellipse">
            <a:avLst/>
          </a:prstGeom>
          <a:solidFill>
            <a:srgbClr val="C1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53527" y="3777935"/>
            <a:ext cx="694944" cy="99724"/>
          </a:xfrm>
          <a:prstGeom prst="roundRect">
            <a:avLst>
              <a:gd name="adj" fmla="val 50000"/>
            </a:avLst>
          </a:prstGeom>
          <a:solidFill>
            <a:srgbClr val="C1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502920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7" b="1" i="0" spc="140">
                <a:solidFill>
                  <a:srgbClr val="5A4433"/>
                </a:solidFill>
                <a:latin typeface="Calibri"/>
              </a:rPr>
              <a:t>TRAINED ON HUMAN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02920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7" b="1" i="0" spc="140">
                <a:solidFill>
                  <a:srgbClr val="5A4433"/>
                </a:solidFill>
                <a:latin typeface="Calibri"/>
              </a:rPr>
              <a:t>LEARNS THE PATTERNS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554480" cy="54864"/>
          </a:xfrm>
          <a:prstGeom prst="rect">
            <a:avLst/>
          </a:prstGeom>
          <a:solidFill>
            <a:srgbClr val="C1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48695" y="6355080"/>
            <a:ext cx="914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76" b="0" i="0">
                <a:solidFill>
                  <a:srgbClr val="9B8571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5EDDF"/>
              </a:gs>
              <a:gs pos="100000">
                <a:srgbClr val="EFE1D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38247" y="512064"/>
            <a:ext cx="7315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88" b="1" i="0" spc="420">
                <a:solidFill>
                  <a:srgbClr val="CE5A38"/>
                </a:solidFill>
                <a:latin typeface="Calibri"/>
              </a:rPr>
              <a:t>THE CHALLENGE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84367" y="1042415"/>
            <a:ext cx="822960" cy="0"/>
          </a:xfrm>
          <a:prstGeom prst="bentConnector3">
            <a:avLst/>
          </a:prstGeom>
          <a:ln w="33020">
            <a:solidFill>
              <a:srgbClr val="CE5A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5592927" y="3200400"/>
            <a:ext cx="1005840" cy="868680"/>
          </a:xfrm>
          <a:prstGeom prst="triangle">
            <a:avLst/>
          </a:prstGeom>
          <a:solidFill>
            <a:srgbClr val="6B4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13551" y="2606040"/>
            <a:ext cx="164592" cy="685800"/>
          </a:xfrm>
          <a:prstGeom prst="roundRect">
            <a:avLst>
              <a:gd name="adj" fmla="val 50000"/>
            </a:avLst>
          </a:prstGeom>
          <a:solidFill>
            <a:srgbClr val="6B4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47007" y="2980944"/>
            <a:ext cx="4297680" cy="164592"/>
          </a:xfrm>
          <a:prstGeom prst="roundRect">
            <a:avLst>
              <a:gd name="adj" fmla="val 50000"/>
            </a:avLst>
          </a:prstGeom>
          <a:solidFill>
            <a:srgbClr val="C18150"/>
          </a:solidFill>
          <a:ln>
            <a:noFill/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3947007" y="3063240"/>
            <a:ext cx="0" cy="868680"/>
          </a:xfrm>
          <a:prstGeom prst="bentConnector3">
            <a:avLst/>
          </a:prstGeom>
          <a:ln w="20320">
            <a:solidFill>
              <a:srgbClr val="6B4A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80079" y="3931920"/>
            <a:ext cx="1133856" cy="109728"/>
          </a:xfrm>
          <a:prstGeom prst="roundRect">
            <a:avLst>
              <a:gd name="adj" fmla="val 50000"/>
            </a:avLst>
          </a:prstGeom>
          <a:solidFill>
            <a:srgbClr val="CDA07E"/>
          </a:solidFill>
          <a:ln>
            <a:noFill/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15487" y="3063239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567" b="1" i="0">
                <a:solidFill>
                  <a:srgbClr val="5A93DE"/>
                </a:solidFill>
                <a:latin typeface="Calibri"/>
              </a:rPr>
              <a:t>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44687" y="3063240"/>
            <a:ext cx="0" cy="868680"/>
          </a:xfrm>
          <a:prstGeom prst="bentConnector3">
            <a:avLst/>
          </a:prstGeom>
          <a:ln w="20320">
            <a:solidFill>
              <a:srgbClr val="6B4A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677759" y="3931920"/>
            <a:ext cx="1133856" cy="109728"/>
          </a:xfrm>
          <a:prstGeom prst="roundRect">
            <a:avLst>
              <a:gd name="adj" fmla="val 50000"/>
            </a:avLst>
          </a:prstGeom>
          <a:solidFill>
            <a:srgbClr val="CDA07E"/>
          </a:solidFill>
          <a:ln>
            <a:noFill/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3167" y="3063239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567" b="1" i="0">
                <a:solidFill>
                  <a:srgbClr val="E96CA4"/>
                </a:solidFill>
                <a:latin typeface="Calibri"/>
              </a:rPr>
              <a:t>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5767" y="1234440"/>
            <a:ext cx="12801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55" b="1" i="0">
                <a:solidFill>
                  <a:srgbClr val="CE5A38"/>
                </a:solidFill>
                <a:latin typeface="Georgia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127" y="5166360"/>
            <a:ext cx="11521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3479" b="1" i="0">
                <a:solidFill>
                  <a:srgbClr val="3E2C1E"/>
                </a:solidFill>
                <a:latin typeface="Georgia"/>
              </a:rPr>
              <a:t>If AI learns from people,</a:t>
            </a:r>
          </a:p>
          <a:p>
            <a:pPr algn="ctr">
              <a:lnSpc>
                <a:spcPct val="106000"/>
              </a:lnSpc>
            </a:pPr>
            <a:r>
              <a:rPr sz="3479" b="1" i="0">
                <a:solidFill>
                  <a:srgbClr val="3E2C1E"/>
                </a:solidFill>
                <a:latin typeface="Georgia"/>
              </a:rPr>
              <a:t>could it learn our bias?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828800" cy="54864"/>
          </a:xfrm>
          <a:prstGeom prst="rect">
            <a:avLst/>
          </a:prstGeom>
          <a:solidFill>
            <a:srgbClr val="C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48695" y="6355080"/>
            <a:ext cx="914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76" b="0" i="0">
                <a:solidFill>
                  <a:srgbClr val="9B8571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5EDDF"/>
              </a:gs>
              <a:gs pos="100000">
                <a:srgbClr val="E7D3B8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38247" y="512064"/>
            <a:ext cx="7315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88" b="1" i="0" spc="420">
                <a:solidFill>
                  <a:srgbClr val="C18150"/>
                </a:solidFill>
                <a:latin typeface="Calibri"/>
              </a:rPr>
              <a:t>THE TEST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84367" y="1042415"/>
            <a:ext cx="822960" cy="0"/>
          </a:xfrm>
          <a:prstGeom prst="bentConnector3">
            <a:avLst/>
          </a:prstGeom>
          <a:ln w="33020">
            <a:solidFill>
              <a:srgbClr val="C181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145535" y="1798624"/>
            <a:ext cx="1664208" cy="2163470"/>
          </a:xfrm>
          <a:prstGeom prst="roundRect">
            <a:avLst>
              <a:gd name="adj" fmla="val 9000"/>
            </a:avLst>
          </a:prstGeom>
          <a:solidFill>
            <a:srgbClr val="FCF7EF"/>
          </a:solidFill>
          <a:ln w="16510">
            <a:solidFill>
              <a:srgbClr val="E4D5C0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27566" y="2048255"/>
            <a:ext cx="532546" cy="596452"/>
          </a:xfrm>
          <a:prstGeom prst="roundRect">
            <a:avLst>
              <a:gd name="adj" fmla="val 12000"/>
            </a:avLst>
          </a:prstGeom>
          <a:solidFill>
            <a:srgbClr val="E96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87330" y="2122812"/>
            <a:ext cx="213018" cy="213018"/>
          </a:xfrm>
          <a:prstGeom prst="ellipse">
            <a:avLst/>
          </a:prstGeom>
          <a:solidFill>
            <a:srgbClr val="F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112773" y="2357133"/>
            <a:ext cx="362131" cy="18106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95167" y="2075687"/>
            <a:ext cx="665683" cy="129808"/>
          </a:xfrm>
          <a:prstGeom prst="roundRect">
            <a:avLst>
              <a:gd name="adj" fmla="val 50000"/>
            </a:avLst>
          </a:prstGeom>
          <a:solidFill>
            <a:srgbClr val="E96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95167" y="2372776"/>
            <a:ext cx="532546" cy="97356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95167" y="2772186"/>
            <a:ext cx="1198229" cy="97356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95167" y="3031802"/>
            <a:ext cx="1065093" cy="97356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95167" y="3291419"/>
            <a:ext cx="1131661" cy="97356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535" y="3442862"/>
            <a:ext cx="1664208" cy="5625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711" b="0" i="0">
                <a:solidFill>
                  <a:srgbClr val="E96CA4"/>
                </a:solidFill>
                <a:latin typeface="Calibri"/>
              </a:rPr>
              <a:t>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1447" y="2377440"/>
            <a:ext cx="1828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567" b="1" i="0">
                <a:solidFill>
                  <a:srgbClr val="9B8571"/>
                </a:solidFill>
                <a:latin typeface="Georgia"/>
              </a:rPr>
              <a:t>=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79208" y="1798624"/>
            <a:ext cx="1664208" cy="2163470"/>
          </a:xfrm>
          <a:prstGeom prst="roundRect">
            <a:avLst>
              <a:gd name="adj" fmla="val 9000"/>
            </a:avLst>
          </a:prstGeom>
          <a:solidFill>
            <a:srgbClr val="FCF7EF"/>
          </a:solidFill>
          <a:ln w="16510">
            <a:solidFill>
              <a:srgbClr val="E4D5C0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61238" y="2048255"/>
            <a:ext cx="532546" cy="596452"/>
          </a:xfrm>
          <a:prstGeom prst="roundRect">
            <a:avLst>
              <a:gd name="adj" fmla="val 12000"/>
            </a:avLst>
          </a:prstGeom>
          <a:solidFill>
            <a:srgbClr val="5A9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21002" y="2122812"/>
            <a:ext cx="213018" cy="213018"/>
          </a:xfrm>
          <a:prstGeom prst="ellipse">
            <a:avLst/>
          </a:prstGeom>
          <a:solidFill>
            <a:srgbClr val="F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8346445" y="2357133"/>
            <a:ext cx="362131" cy="18106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8839" y="2075687"/>
            <a:ext cx="665683" cy="129808"/>
          </a:xfrm>
          <a:prstGeom prst="roundRect">
            <a:avLst>
              <a:gd name="adj" fmla="val 50000"/>
            </a:avLst>
          </a:prstGeom>
          <a:solidFill>
            <a:srgbClr val="5A9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28839" y="2372776"/>
            <a:ext cx="532546" cy="97356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28839" y="2772186"/>
            <a:ext cx="1198229" cy="97356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28839" y="3031802"/>
            <a:ext cx="1065093" cy="97356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8839" y="3291419"/>
            <a:ext cx="1131661" cy="97356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208" y="3442862"/>
            <a:ext cx="1664208" cy="5625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711" b="0" i="0">
                <a:solidFill>
                  <a:srgbClr val="5A93DE"/>
                </a:solidFill>
                <a:latin typeface="Calibri"/>
              </a:rPr>
              <a:t>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127" y="4553712"/>
            <a:ext cx="11521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47" b="1" i="0">
                <a:solidFill>
                  <a:srgbClr val="3E2C1E"/>
                </a:solidFill>
                <a:latin typeface="Georgia"/>
              </a:rPr>
              <a:t>Identical Japanese resumes — only the name differs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8247" y="523036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4" b="1" i="0" spc="260">
                <a:solidFill>
                  <a:srgbClr val="C18150"/>
                </a:solidFill>
                <a:latin typeface="Calibri"/>
              </a:rPr>
              <a:t>FIVE AI MODELS SCORED EACH RESUME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6083" y="5650992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FCF7EF"/>
          </a:solidFill>
          <a:ln w="15240">
            <a:solidFill>
              <a:srgbClr val="E4D5C0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63827" y="5916168"/>
            <a:ext cx="137160" cy="137160"/>
          </a:xfrm>
          <a:prstGeom prst="ellipse">
            <a:avLst/>
          </a:prstGeom>
          <a:solidFill>
            <a:srgbClr val="C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1843" y="5650992"/>
            <a:ext cx="1325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6B4A34"/>
                </a:solidFill>
                <a:latin typeface="Calibri"/>
              </a:rPr>
              <a:t>ChatGPT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5195" y="5650992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FCF7EF"/>
          </a:solidFill>
          <a:ln w="15240">
            <a:solidFill>
              <a:srgbClr val="E4D5C0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02939" y="5916168"/>
            <a:ext cx="137160" cy="137160"/>
          </a:xfrm>
          <a:prstGeom prst="ellipse">
            <a:avLst/>
          </a:prstGeom>
          <a:solidFill>
            <a:srgbClr val="C1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30955" y="5650992"/>
            <a:ext cx="1325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6B4A34"/>
                </a:solidFill>
                <a:latin typeface="Calibri"/>
              </a:rPr>
              <a:t>Claude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04307" y="5650992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FCF7EF"/>
          </a:solidFill>
          <a:ln w="15240">
            <a:solidFill>
              <a:srgbClr val="E4D5C0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42051" y="5916168"/>
            <a:ext cx="137160" cy="137160"/>
          </a:xfrm>
          <a:prstGeom prst="ellipse">
            <a:avLst/>
          </a:prstGeom>
          <a:solidFill>
            <a:srgbClr val="C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0067" y="5650992"/>
            <a:ext cx="1325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6B4A34"/>
                </a:solidFill>
                <a:latin typeface="Calibri"/>
              </a:rPr>
              <a:t>Gemini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43419" y="5650992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FCF7EF"/>
          </a:solidFill>
          <a:ln w="15240">
            <a:solidFill>
              <a:srgbClr val="E4D5C0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481163" y="5916168"/>
            <a:ext cx="137160" cy="137160"/>
          </a:xfrm>
          <a:prstGeom prst="ellipse">
            <a:avLst/>
          </a:prstGeom>
          <a:solidFill>
            <a:srgbClr val="C1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09179" y="5650992"/>
            <a:ext cx="1325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6B4A34"/>
                </a:solidFill>
                <a:latin typeface="Calibri"/>
              </a:rPr>
              <a:t>DeepSeek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82531" y="5650992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FCF7EF"/>
          </a:solidFill>
          <a:ln w="15240">
            <a:solidFill>
              <a:srgbClr val="E4D5C0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520275" y="5916168"/>
            <a:ext cx="137160" cy="137160"/>
          </a:xfrm>
          <a:prstGeom prst="ellipse">
            <a:avLst/>
          </a:prstGeom>
          <a:solidFill>
            <a:srgbClr val="C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48291" y="5650992"/>
            <a:ext cx="1325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 i="0">
                <a:solidFill>
                  <a:srgbClr val="6B4A34"/>
                </a:solidFill>
                <a:latin typeface="Calibri"/>
              </a:rPr>
              <a:t>Llama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03136"/>
            <a:ext cx="2103120" cy="54864"/>
          </a:xfrm>
          <a:prstGeom prst="rect">
            <a:avLst/>
          </a:prstGeom>
          <a:solidFill>
            <a:srgbClr val="C1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48695" y="6355080"/>
            <a:ext cx="914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76" b="0" i="0">
                <a:solidFill>
                  <a:srgbClr val="9B8571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5EDDF"/>
              </a:gs>
              <a:gs pos="100000">
                <a:srgbClr val="E7D3B8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38247" y="512064"/>
            <a:ext cx="7315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88" b="1" i="0" spc="420">
                <a:solidFill>
                  <a:srgbClr val="CE5A38"/>
                </a:solidFill>
                <a:latin typeface="Calibri"/>
              </a:rPr>
              <a:t>THE RESULT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84367" y="1042415"/>
            <a:ext cx="822960" cy="0"/>
          </a:xfrm>
          <a:prstGeom prst="bentConnector3">
            <a:avLst/>
          </a:prstGeom>
          <a:ln w="33020">
            <a:solidFill>
              <a:srgbClr val="CE5A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91839" y="2665476"/>
            <a:ext cx="1737360" cy="2258568"/>
          </a:xfrm>
          <a:prstGeom prst="roundRect">
            <a:avLst>
              <a:gd name="adj" fmla="val 9000"/>
            </a:avLst>
          </a:prstGeom>
          <a:solidFill>
            <a:srgbClr val="FCF7EF"/>
          </a:solidFill>
          <a:ln w="16510">
            <a:solidFill>
              <a:srgbClr val="E4D5C0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12640" y="2926080"/>
            <a:ext cx="555955" cy="622669"/>
          </a:xfrm>
          <a:prstGeom prst="roundRect">
            <a:avLst>
              <a:gd name="adj" fmla="val 12000"/>
            </a:avLst>
          </a:prstGeom>
          <a:solidFill>
            <a:srgbClr val="5A9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379427" y="3003913"/>
            <a:ext cx="222382" cy="222382"/>
          </a:xfrm>
          <a:prstGeom prst="ellipse">
            <a:avLst/>
          </a:prstGeom>
          <a:solidFill>
            <a:srgbClr val="F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301593" y="3248534"/>
            <a:ext cx="378049" cy="18902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52444" y="2953512"/>
            <a:ext cx="694944" cy="135514"/>
          </a:xfrm>
          <a:prstGeom prst="roundRect">
            <a:avLst>
              <a:gd name="adj" fmla="val 50000"/>
            </a:avLst>
          </a:prstGeom>
          <a:solidFill>
            <a:srgbClr val="5A9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52444" y="3264865"/>
            <a:ext cx="555955" cy="101635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52444" y="3681831"/>
            <a:ext cx="1250899" cy="101635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52444" y="3952859"/>
            <a:ext cx="1111910" cy="101635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52444" y="4223887"/>
            <a:ext cx="1181404" cy="101635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39" y="4381987"/>
            <a:ext cx="1737360" cy="587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944" b="0" i="0">
                <a:solidFill>
                  <a:srgbClr val="5A93DE"/>
                </a:solidFill>
                <a:latin typeface="Calibri"/>
              </a:rPr>
              <a:t>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525780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91" b="1" i="0" spc="160">
                <a:solidFill>
                  <a:srgbClr val="5A93DE"/>
                </a:solidFill>
                <a:latin typeface="Calibri"/>
              </a:rPr>
              <a:t>MALE 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6872" y="2057400"/>
            <a:ext cx="2048256" cy="2432304"/>
          </a:xfrm>
          <a:prstGeom prst="roundRect">
            <a:avLst>
              <a:gd name="adj" fmla="val 12000"/>
            </a:avLst>
          </a:prstGeom>
          <a:solidFill>
            <a:srgbClr val="F3DDE7"/>
          </a:solidFill>
          <a:ln>
            <a:noFill/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0" y="2162556"/>
            <a:ext cx="1737360" cy="2258568"/>
          </a:xfrm>
          <a:prstGeom prst="roundRect">
            <a:avLst>
              <a:gd name="adj" fmla="val 9000"/>
            </a:avLst>
          </a:prstGeom>
          <a:solidFill>
            <a:srgbClr val="FCF7EF"/>
          </a:solidFill>
          <a:ln w="16510">
            <a:solidFill>
              <a:srgbClr val="E4D5C0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53120" y="2423160"/>
            <a:ext cx="555955" cy="622669"/>
          </a:xfrm>
          <a:prstGeom prst="roundRect">
            <a:avLst>
              <a:gd name="adj" fmla="val 12000"/>
            </a:avLst>
          </a:prstGeom>
          <a:solidFill>
            <a:srgbClr val="E96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19907" y="2500993"/>
            <a:ext cx="222382" cy="222382"/>
          </a:xfrm>
          <a:prstGeom prst="ellipse">
            <a:avLst/>
          </a:prstGeom>
          <a:solidFill>
            <a:srgbClr val="F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142073" y="2745614"/>
            <a:ext cx="378049" cy="18902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92923" y="2450592"/>
            <a:ext cx="694944" cy="135514"/>
          </a:xfrm>
          <a:prstGeom prst="roundRect">
            <a:avLst>
              <a:gd name="adj" fmla="val 50000"/>
            </a:avLst>
          </a:prstGeom>
          <a:solidFill>
            <a:srgbClr val="E96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92923" y="2761945"/>
            <a:ext cx="555955" cy="101635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92923" y="3178911"/>
            <a:ext cx="1250899" cy="101635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92923" y="3449939"/>
            <a:ext cx="1111910" cy="101635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92923" y="3720967"/>
            <a:ext cx="1181404" cy="101635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3879067"/>
            <a:ext cx="1737360" cy="587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944" b="0" i="0">
                <a:solidFill>
                  <a:srgbClr val="E96CA4"/>
                </a:solidFill>
                <a:latin typeface="Calibri"/>
              </a:rPr>
              <a:t>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1719072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15" b="1" i="0">
                <a:solidFill>
                  <a:srgbClr val="E96CA4"/>
                </a:solidFill>
                <a:latin typeface="Calibri"/>
              </a:rPr>
              <a:t>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70916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91" b="1" i="0" spc="160">
                <a:solidFill>
                  <a:srgbClr val="E96CA4"/>
                </a:solidFill>
                <a:latin typeface="Calibri"/>
              </a:rPr>
              <a:t>FEMALE 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3687" y="5577840"/>
            <a:ext cx="11704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47" b="1" i="0">
                <a:solidFill>
                  <a:srgbClr val="3E2C1E"/>
                </a:solidFill>
                <a:latin typeface="Georgia"/>
              </a:rPr>
              <a:t>Female names scored </a:t>
            </a:r>
            <a:r>
              <a:rPr sz="3247" b="1" i="0">
                <a:solidFill>
                  <a:srgbClr val="E96CA4"/>
                </a:solidFill>
                <a:latin typeface="Georgia"/>
              </a:rPr>
              <a:t>slightly higher</a:t>
            </a:r>
            <a:r>
              <a:rPr sz="3247" b="1" i="0">
                <a:solidFill>
                  <a:srgbClr val="3E2C1E"/>
                </a:solidFill>
                <a:latin typeface="Georgia"/>
              </a:rPr>
              <a:t> — same resume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03136"/>
            <a:ext cx="2377439" cy="54864"/>
          </a:xfrm>
          <a:prstGeom prst="rect">
            <a:avLst/>
          </a:prstGeom>
          <a:solidFill>
            <a:srgbClr val="C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48695" y="6355080"/>
            <a:ext cx="914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76" b="0" i="0">
                <a:solidFill>
                  <a:srgbClr val="9B8571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5EDDF"/>
              </a:gs>
              <a:gs pos="100000">
                <a:srgbClr val="E7D3B8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38247" y="512064"/>
            <a:ext cx="7315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88" b="1" i="0" spc="420">
                <a:solidFill>
                  <a:srgbClr val="DCA62A"/>
                </a:solidFill>
                <a:latin typeface="Calibri"/>
              </a:rPr>
              <a:t>THE FIX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84367" y="1042415"/>
            <a:ext cx="822960" cy="0"/>
          </a:xfrm>
          <a:prstGeom prst="bentConnector3">
            <a:avLst/>
          </a:prstGeom>
          <a:ln w="33020">
            <a:solidFill>
              <a:srgbClr val="DCA6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91840" y="1673351"/>
            <a:ext cx="1645920" cy="2139696"/>
          </a:xfrm>
          <a:prstGeom prst="roundRect">
            <a:avLst>
              <a:gd name="adj" fmla="val 9000"/>
            </a:avLst>
          </a:prstGeom>
          <a:solidFill>
            <a:srgbClr val="FCF7EF"/>
          </a:solidFill>
          <a:ln w="16510">
            <a:solidFill>
              <a:srgbClr val="E4D5C0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64177" y="1920239"/>
            <a:ext cx="526694" cy="589897"/>
          </a:xfrm>
          <a:prstGeom prst="roundRect">
            <a:avLst>
              <a:gd name="adj" fmla="val 12000"/>
            </a:avLst>
          </a:prstGeom>
          <a:solidFill>
            <a:srgbClr val="C1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322185" y="1993977"/>
            <a:ext cx="210677" cy="210677"/>
          </a:xfrm>
          <a:prstGeom prst="ellipse">
            <a:avLst/>
          </a:prstGeom>
          <a:solidFill>
            <a:srgbClr val="F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248448" y="2225722"/>
            <a:ext cx="358152" cy="17907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38728" y="1947671"/>
            <a:ext cx="658368" cy="128381"/>
          </a:xfrm>
          <a:prstGeom prst="roundRect">
            <a:avLst>
              <a:gd name="adj" fmla="val 50000"/>
            </a:avLst>
          </a:prstGeom>
          <a:solidFill>
            <a:srgbClr val="C1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241194"/>
            <a:ext cx="526694" cy="96286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38728" y="2636215"/>
            <a:ext cx="1185062" cy="96286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38728" y="2892978"/>
            <a:ext cx="1053388" cy="96286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8728" y="3149742"/>
            <a:ext cx="1119225" cy="96286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638647" y="2578608"/>
            <a:ext cx="914400" cy="32918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9B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51192" y="1673351"/>
            <a:ext cx="1645920" cy="2139696"/>
          </a:xfrm>
          <a:prstGeom prst="roundRect">
            <a:avLst>
              <a:gd name="adj" fmla="val 9000"/>
            </a:avLst>
          </a:prstGeom>
          <a:solidFill>
            <a:srgbClr val="FCF7EF"/>
          </a:solidFill>
          <a:ln w="16510">
            <a:solidFill>
              <a:srgbClr val="E4D5C0"/>
            </a:solidFill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3529" y="1920239"/>
            <a:ext cx="526694" cy="589897"/>
          </a:xfrm>
          <a:prstGeom prst="roundRect">
            <a:avLst>
              <a:gd name="adj" fmla="val 12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1947671"/>
            <a:ext cx="658368" cy="128381"/>
          </a:xfrm>
          <a:prstGeom prst="roundRect">
            <a:avLst>
              <a:gd name="adj" fmla="val 30000"/>
            </a:avLst>
          </a:prstGeom>
          <a:solidFill>
            <a:srgbClr val="6B4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79" y="2241194"/>
            <a:ext cx="526694" cy="96286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79" y="2636215"/>
            <a:ext cx="1185062" cy="96286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79" y="2892978"/>
            <a:ext cx="1053388" cy="96286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79" y="3149742"/>
            <a:ext cx="1119225" cy="96286"/>
          </a:xfrm>
          <a:prstGeom prst="roundRect">
            <a:avLst>
              <a:gd name="adj" fmla="val 50000"/>
            </a:avLst>
          </a:prstGeom>
          <a:solidFill>
            <a:srgbClr val="E4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3977639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49" b="1" i="0">
                <a:solidFill>
                  <a:srgbClr val="6B4A34"/>
                </a:solidFill>
                <a:latin typeface="Consolas"/>
              </a:rPr>
              <a:t>[PRIVATE_PERSON]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7127" y="416052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728" b="1" i="0">
                <a:solidFill>
                  <a:srgbClr val="DCA62A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007" y="5440680"/>
            <a:ext cx="11155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596" b="1" i="0">
                <a:solidFill>
                  <a:srgbClr val="3E2C1E"/>
                </a:solidFill>
                <a:latin typeface="Georgia"/>
              </a:rPr>
              <a:t>Remove the name → the bias disappears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03136"/>
            <a:ext cx="2651759" cy="54864"/>
          </a:xfrm>
          <a:prstGeom prst="rect">
            <a:avLst/>
          </a:prstGeom>
          <a:solidFill>
            <a:srgbClr val="DCA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48695" y="6355080"/>
            <a:ext cx="914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76" b="0" i="0">
                <a:solidFill>
                  <a:srgbClr val="9B8571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FE1D3"/>
              </a:gs>
              <a:gs pos="100000">
                <a:srgbClr val="E7D3B8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38247" y="512064"/>
            <a:ext cx="7315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88" b="1" i="0" spc="420">
                <a:solidFill>
                  <a:srgbClr val="C18150"/>
                </a:solidFill>
                <a:latin typeface="Calibri"/>
              </a:rPr>
              <a:t>WHY IT HAPPENS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84367" y="1042415"/>
            <a:ext cx="822960" cy="0"/>
          </a:xfrm>
          <a:prstGeom prst="bentConnector3">
            <a:avLst/>
          </a:prstGeom>
          <a:ln w="33020">
            <a:solidFill>
              <a:srgbClr val="C181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5592927" y="3017520"/>
            <a:ext cx="1005840" cy="868680"/>
          </a:xfrm>
          <a:prstGeom prst="triangle">
            <a:avLst/>
          </a:prstGeom>
          <a:solidFill>
            <a:srgbClr val="6B4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13551" y="2423160"/>
            <a:ext cx="164592" cy="685800"/>
          </a:xfrm>
          <a:prstGeom prst="roundRect">
            <a:avLst>
              <a:gd name="adj" fmla="val 50000"/>
            </a:avLst>
          </a:prstGeom>
          <a:solidFill>
            <a:srgbClr val="6B4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540000">
            <a:off x="3947007" y="2798064"/>
            <a:ext cx="4297680" cy="164592"/>
          </a:xfrm>
          <a:prstGeom prst="roundRect">
            <a:avLst>
              <a:gd name="adj" fmla="val 50000"/>
            </a:avLst>
          </a:prstGeom>
          <a:solidFill>
            <a:srgbClr val="C18150"/>
          </a:solidFill>
          <a:ln>
            <a:noFill/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3973463" y="2544207"/>
            <a:ext cx="0" cy="868680"/>
          </a:xfrm>
          <a:prstGeom prst="bentConnector3">
            <a:avLst/>
          </a:prstGeom>
          <a:ln w="20320">
            <a:solidFill>
              <a:srgbClr val="6B4A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06535" y="3412887"/>
            <a:ext cx="1133856" cy="109728"/>
          </a:xfrm>
          <a:prstGeom prst="roundRect">
            <a:avLst>
              <a:gd name="adj" fmla="val 50000"/>
            </a:avLst>
          </a:prstGeom>
          <a:solidFill>
            <a:srgbClr val="CDA07E"/>
          </a:solidFill>
          <a:ln>
            <a:noFill/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1943" y="2544207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567" b="1" i="0">
                <a:solidFill>
                  <a:srgbClr val="5A93DE"/>
                </a:solidFill>
                <a:latin typeface="Calibri"/>
              </a:rPr>
              <a:t>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18231" y="3216512"/>
            <a:ext cx="0" cy="868680"/>
          </a:xfrm>
          <a:prstGeom prst="bentConnector3">
            <a:avLst/>
          </a:prstGeom>
          <a:ln w="20320">
            <a:solidFill>
              <a:srgbClr val="6B4A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651303" y="4085192"/>
            <a:ext cx="1133856" cy="109728"/>
          </a:xfrm>
          <a:prstGeom prst="roundRect">
            <a:avLst>
              <a:gd name="adj" fmla="val 50000"/>
            </a:avLst>
          </a:prstGeom>
          <a:solidFill>
            <a:srgbClr val="CDA07E"/>
          </a:solidFill>
          <a:ln>
            <a:noFill/>
          </a:ln>
          <a:effectLst>
            <a:outerShdw blurRad="254000" dist="139700" dir="5400000" rotWithShape="0">
              <a:srgbClr val="6B4A34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86711" y="3216512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567" b="1" i="0">
                <a:solidFill>
                  <a:srgbClr val="E96CA4"/>
                </a:solidFill>
                <a:latin typeface="Calibri"/>
              </a:rPr>
              <a:t>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007" y="5120640"/>
            <a:ext cx="111556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3479" b="1" i="0">
                <a:solidFill>
                  <a:srgbClr val="3E2C1E"/>
                </a:solidFill>
                <a:latin typeface="Georgia"/>
              </a:rPr>
              <a:t>Fairness training may over-correct —</a:t>
            </a:r>
          </a:p>
          <a:p>
            <a:pPr algn="ctr">
              <a:lnSpc>
                <a:spcPct val="106000"/>
              </a:lnSpc>
            </a:pPr>
            <a:r>
              <a:rPr sz="3479" b="1" i="0">
                <a:solidFill>
                  <a:srgbClr val="3E2C1E"/>
                </a:solidFill>
                <a:latin typeface="Georgia"/>
              </a:rPr>
              <a:t>tipping toward women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2926080" cy="54864"/>
          </a:xfrm>
          <a:prstGeom prst="rect">
            <a:avLst/>
          </a:prstGeom>
          <a:solidFill>
            <a:srgbClr val="C1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48695" y="6355080"/>
            <a:ext cx="914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76" b="0" i="0">
                <a:solidFill>
                  <a:srgbClr val="9B8571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5EDDF"/>
              </a:gs>
              <a:gs pos="100000">
                <a:srgbClr val="EFE1D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38247" y="512064"/>
            <a:ext cx="7315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88" b="1" i="0" spc="420">
                <a:solidFill>
                  <a:srgbClr val="C18150"/>
                </a:solidFill>
                <a:latin typeface="Calibri"/>
              </a:rPr>
              <a:t>THE TAKEAWAY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84367" y="1042415"/>
            <a:ext cx="822960" cy="0"/>
          </a:xfrm>
          <a:prstGeom prst="bentConnector3">
            <a:avLst/>
          </a:prstGeom>
          <a:ln w="33020">
            <a:solidFill>
              <a:srgbClr val="C181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35127" y="2148840"/>
            <a:ext cx="11521440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4755" b="1" i="0">
                <a:solidFill>
                  <a:srgbClr val="3E2C1E"/>
                </a:solidFill>
                <a:latin typeface="Georgia"/>
              </a:rPr>
              <a:t>AI can be a helpful tool —</a:t>
            </a:r>
          </a:p>
          <a:p>
            <a:pPr algn="ctr">
              <a:lnSpc>
                <a:spcPct val="114000"/>
              </a:lnSpc>
            </a:pPr>
            <a:r>
              <a:rPr sz="4755" b="1" i="0">
                <a:solidFill>
                  <a:srgbClr val="3E2C1E"/>
                </a:solidFill>
                <a:latin typeface="Georgia"/>
              </a:rPr>
              <a:t/>
            </a:r>
            <a:r>
              <a:rPr sz="4755" b="1" i="0">
                <a:solidFill>
                  <a:srgbClr val="CE5A38"/>
                </a:solidFill>
                <a:latin typeface="Georgia"/>
              </a:rPr>
              <a:t>don't assume it's always fair.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3767" y="5029200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83" b="1" i="1">
                <a:solidFill>
                  <a:srgbClr val="C18150"/>
                </a:solidFill>
                <a:latin typeface="Georgia"/>
              </a:rPr>
              <a:t>Question its decisions before you trust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3200400" cy="54864"/>
          </a:xfrm>
          <a:prstGeom prst="rect">
            <a:avLst/>
          </a:prstGeom>
          <a:solidFill>
            <a:srgbClr val="C1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8695" y="6355080"/>
            <a:ext cx="914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76" b="0" i="0">
                <a:solidFill>
                  <a:srgbClr val="9B8571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5EDDF"/>
              </a:gs>
              <a:gs pos="100000">
                <a:srgbClr val="E7D3B8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69767" y="2057400"/>
            <a:ext cx="58521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263" b="0" i="0">
                <a:solidFill>
                  <a:srgbClr val="E96CA4"/>
                </a:solidFill>
                <a:latin typeface="Calibri"/>
              </a:rPr>
              <a:t>♀</a:t>
            </a:r>
            <a:r>
              <a:rPr sz="6263" b="0" i="0">
                <a:solidFill>
                  <a:srgbClr val="3E2C1E"/>
                </a:solidFill>
                <a:latin typeface="Calibri"/>
              </a:rPr>
              <a:t>    </a:t>
            </a:r>
            <a:r>
              <a:rPr sz="6263" b="0" i="0">
                <a:solidFill>
                  <a:srgbClr val="5A93DE"/>
                </a:solidFill>
                <a:latin typeface="Calibri"/>
              </a:rPr>
              <a:t>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3847" y="3154680"/>
            <a:ext cx="91440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959" b="1" i="0">
                <a:solidFill>
                  <a:srgbClr val="3E2C1E"/>
                </a:solidFill>
                <a:latin typeface="Georgia"/>
              </a:rPr>
              <a:t>Thank you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1447" y="4526280"/>
            <a:ext cx="1828800" cy="0"/>
          </a:xfrm>
          <a:prstGeom prst="bentConnector3">
            <a:avLst/>
          </a:prstGeom>
          <a:ln w="25400">
            <a:solidFill>
              <a:srgbClr val="C181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38247" y="470916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91" b="1" i="0" spc="320">
                <a:solidFill>
                  <a:srgbClr val="C18150"/>
                </a:solidFill>
                <a:latin typeface="Calibri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567" y="5029200"/>
            <a:ext cx="113385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91" b="0" i="1">
                <a:solidFill>
                  <a:srgbClr val="5A4433"/>
                </a:solidFill>
                <a:latin typeface="Georgia"/>
              </a:rPr>
              <a:t>Hoffstedde, S. A., Hirota, M., Nadayanur Sathis Kanna, A., Kotani, R., Kumar, U., Trovato, G., &amp; Tan, P. X. (2026).</a:t>
            </a:r>
          </a:p>
          <a:p>
            <a:pPr algn="ctr">
              <a:lnSpc>
                <a:spcPct val="125000"/>
              </a:lnSpc>
            </a:pPr>
            <a:r>
              <a:rPr sz="1391" b="0" i="1">
                <a:solidFill>
                  <a:srgbClr val="5A4433"/>
                </a:solidFill>
                <a:latin typeface="Georgia"/>
              </a:rPr>
              <a:t>Gender Bias in LLM Hiring Decisions: Evidence from a Japanese Context and Evaluation of Mitigation Strategies. arXiv:2606.18649.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